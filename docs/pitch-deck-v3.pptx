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One-liner: Zelyo lets anyone prove a single fact about a credential — 'I'm a certified Data Engineer', 'I'm KYC-verified', 'I'm over 18' — without revealing the underlying document or their identity. Built natively on Stellar Soroban with Noir zero-knowledge circuits. Frame the pitch around three things this deck will prove: (1) Zelyo fills a real gap — Stellar has no privacy-preserving identity layer; (2) the timing is exceptional — Stellar shipped the exact cryptographic primitives we need in Protocol 25/26 (Jan–May 2026); (3) there's a concrete, staged path to revenue and ecosystem impact, starting in the Philippines. Deck content is grounded in our GitHub issue #108 (Stellar ecosystem research, H1 2026) and the current codebase. Visual theme follows BRAND.md.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problem in the user's shoes. A Filipino overseas worker applying for a job abroad, or onboarding to a remittance app, must hand over a full passport scan, diploma, or proof of address — repeatedly, to every counterparty. Each of those counterparties now holds a copy of their PII. The same pain shows up in crypto: airdrops and reward campaigns get drained by Sybil bots because there's no way to prove 'one real person' without collecting identity. Key point for investors: this is not a niche crypto problem — it's the universal KYC/credential problem, and today's answer (photograph your documents and hope) is both a privacy disaster and a fraud vector.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'aha'. Contrast with the problem slide: instead of 'hand over everything and trust them to delete it', Zelyo says 'present a cryptographic proof of exactly one fact.' Explain the three cards left to right — they map to the three properties investors and the Stellar Foundation care about: user sovereignty, minimal disclosure, and zero on-chain PII. The nullifier is the clever bit: it's a deterministic, unlinkable token = Poseidon(secret, scope). It lets us enforce 'one use per person per app' (Sybil resistance) WITHOUT ever knowing who the person is. That single property is what makes reusable-KYC and bot-proof airdrops possible.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steps. Emphasise step 2: proving happens on the holder's phone/laptop — we are never in possession of the secret or the raw attributes, which is what makes the privacy claim credible rather than marketing. Step 3: the on-chain registry is the source of truth for two things — is this Merkle root one a real issuer published, and has this nullifier been spent. That's the trust anchor. Be honest about maturity: the full mint→prove→verify→claim spine works end-to-end today via 'Path B' (verify off-chain, register on-chain). Fully on-chain verification ('Path A') is wired but stubbed — and the next slide explains why that's about to become trivial.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timing slide — arguably the most important in the deck for a Stellar audience. The message: we didn't just pick Stellar for payments; Stellar's 2025–2026 privacy roadmap shipped exactly the cryptography a ZK-credentials product needs. BN254 (the curve Noir proves on) and Poseidon (the ZK-friendly hash our Merkle tree uses) are now native host functions. Concretely: a pairing check that costs tens of millions of Wasm instructions on a generic chain is a single host call on Soroban now. Two public reference implementations (Interstellar; an UltraHonk-on-Soroban verifier) already prove feasibility. Caveat for a sophisticated investor: confirm the exact fee/rent economics on testnet before over-promising — that's flagged in issue #108's confidence notes. Sources: X-Ray / Protocol 25 announcement; Yardstick / Protocol 26 announcement; CAP-74, CAP-75, CAP-59.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Reframe from 'our product' to 'what Stellar gains'. Stellar is superb at payments but has no privacy-preserving identity/reputation primitive. Zelyo supplies one, and it's composable. Four impact vectors: (1) bot-proof airdrops — a pain every chain feels; (2) reusable KYC — turns the anchors' biggest cost centre into a shared asset; (3) private eligibility for the growing Soroban DeFi set (Blend ~$100M TVL, Aquarius, Soroswap); (4) a marquee demonstration that Soroban's new ZK host functions do real work. The strategic pitch to SDF: Zelyo isn't extracting value from the ecosystem, it's creating a shared standard that makes anchors, wallets and DeFi more valuable — and drives Soroban transaction volume. That's why this is a strong Stellar Community Fund candidate.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'we're not building in a vacuum' slide. Zelyo is designed to plug into what already exists on Stellar rather than reinvent it. Walk the rows: SEPs — SEP-10/45 for wallet &amp; smart-wallet sign-in, SEP-12 is THE reusable-KYC hook, SEP-8 lets a reward asset only move to verified addresses. Soroban host functions — the P25/P26 BN254+Poseidon primitives that make on-chain verification (Path A) real. Anchors — the Anchor Platform, USDC and MoneyGram (which added MGUSD in June 2026) are both a distribution channel and the customer for reusable KYC. Wallets — passkey-kit gives seedless biometric keys; Launchtube can sponsor fees so a user needs zero XLM to claim a reward. DEX/DeFi — path payments deliver a reward in the holder's preferred asset; Blend/Soroswap are token-gating customers. Note the SEP-45 and Launchtube items are Draft/prototype respectively — flag as near-term, not shipped (per #108).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ranked roadmap straight out of issue #108, ordered by business + ecosystem impact against how ready each piece is. 1 is technical and unlocks the narrative. 2 is where the money is — anchors re-run expensive SEP-12 KYC per user; we let them mint once and let users re-prove. 3 is UX table-stakes for consumer adoption in emerging markets (no seed phrases). 4 makes rewards real and is a clean SCF Integration application. 5 is a long game: there is genuinely no ratified Stellar DID/VC standard, so authoring one makes us the reference implementation. Tie each item back to an open GitHub issue where relevant (Path A relates to contracts/verifier and #105; reward work to #103/#104).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Zelyo is one primitive (prove-one-attribute-privately) that addresses many markets. Don't let investors box us as 'just diplomas'. Lead with education because it's our seeded demo and easiest to explain, but the biggest TAM is reusable KYC — every anchor, exchange and fintech re-collects the same identity data. The eIDAS 2 point is powerful for a global/regulatory story: Europe is legislating selective-disclosure credentials into existence, which validates the entire category and creates compliance-driven demand.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Land-and-expand, three tiers. PHILIPPINES (beachhead): we're PH-based and the market is ideal — one of the world's largest remittance economies (MoneyGram is already a major Stellar anchor with MGUSD as of June 2026), a huge OFW population that repeatedly submits KYC, a booming freelancer/BPO workforce that must prove skills to foreign clients, and a bootcamp/TESDA certifier base for the issuer side. Regulatory momentum via BSP eKYC and the national digital ID. Win a few anchors + issuers here and we have a reference market. APAC (expansion): replicate along SEA remittance and migrant-worker corridors — the PH→Singapore/Japan/Australia/Middle East routes are natural, high-volume, and share the same reusable-KYC and credential pains. Grow through anchor and wallet partnerships. GLOBAL (scale): become the reusable-KYC standard for anchors and exchanges everywhere, ride the EU eIDAS 2 mandate (regulation is creating demand for exactly our tech), and lock in category leadership by authoring the did:stellar / VC SEP and shipping a developer platform (SDKs, gate templates). Investor takeaway: this isn't PH-only — it's a PH-first wedge into a global standard, which is exactly the trajectory SDF and investors want to see.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simple and layered. Near term: issuer SaaS — bootcamps/certifiers pay to issue verifiable credentials; low-friction entry with clear value. The real engine: reusable-KYC B2B. Anchors and fintechs pay per verification because we save them the recurring cost and liability of re-collecting KYC. This is the high-margin, scalable line. Add gate/campaign take-rates for the web3 airdrop-gating use case. Bridge financing: the Stellar Community Fund (SCF 7.0, up to $150K in XLM over four milestone tranches, 6-week rounds) plus SDF partnerships de-risk the early build while B2B revenue ramps — a capital-efficient story investors like. Moat: once anchors share a nullifier/attestation standard through us, there are network effects and switching costs.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that a close competitor exists — Luminar — it signals the category is real and validated. But differentiate clearly: Luminar issues essentially one soulbound 'I'm KYC'd' badge. Zelyo proves ARBITRARY attributes from a real credential (track, grade, jurisdiction, accreditation…) with selective disclosure, and closes the loop with issuer tooling + gated rewards. Against Web2 identity (Onfido/Persona/Jumio): they ARE the honeypot model we're replacing — they hold the PII. Our pitch is structurally more private and cheaper to reuse. The open standards gap is the strategic prize: whoever ships the credible did:stellar / VC standard first anchors the category. Verify Luminar's exact current feature set before the meeting — issue #108 flags that detail as medium-confidence.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concrete and milestone-based. Blend non-dilutive (SCF Build Award — up to $150K in XLM, disbursed over four milestone tranches, new 6-week rounds) with a seed raise to fund the Philippines beachhead and the ZK/Soroban engineering team. Near-term proof points investors can hold us to: ship Path A, fix the reward-delivery gap (issues #103/#104), close the failing acceptance test (#101), and land the first 3–5 issuers plus an anchor pilot. 12-month: one anchor live on reusable KYC, first APAC corridor, SDK beta. Use of funds: heavy on ZK+Soroban engineering, PH/APAC business development, and a security audit — non-negotiable for anything touching identity.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tagline and the trajectory: PH-first, globally aimed. Call to action: invite them to the live demo (mint → prove → verify → claim), and to back the SCF application / seed round. Leave-behind references (all in GitHub issue #108): Stellar X-Ray / Protocol 25 and Yardstick / Protocol 26 announcements; CAP-59 / CAP-74 / CAP-75; SEP-8/10/12/45; SCF v7; MoneyGram/MGUSD; Messari State of Stellar Q1 2026. Replace the bracketed contact placeholders before sending.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1A1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1185855" cy="5852160"/>
          </a:xfrm>
          <a:prstGeom prst="rect">
            <a:avLst/>
          </a:prstGeom>
          <a:noFill/>
          <a:ln w="12700">
            <a:solidFill>
              <a:srgbClr val="1A2F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43000"/>
            <a:ext cx="10058400" cy="457200"/>
          </a:xfrm>
          <a:prstGeom prst="rect">
            <a:avLst/>
          </a:prstGeom>
          <a:noFill/>
        </p:spPr>
        <p:txBody>
          <a:bodyPr wrap="square" anchor="t" lIns="0" rIns="0" tIns="0" bIns="0">
            <a:spAutoFit/>
          </a:bodyPr>
          <a:lstStyle/>
          <a:p>
            <a:pPr algn="l">
              <a:lnSpc>
                <a:spcPct val="100000"/>
              </a:lnSpc>
              <a:spcBef>
                <a:spcPts val="0"/>
              </a:spcBef>
              <a:spcAft>
                <a:spcPts val="600"/>
              </a:spcAft>
            </a:pPr>
            <a:r>
              <a:rPr sz="1300" b="1" i="0" spc="150">
                <a:solidFill>
                  <a:srgbClr val="809792"/>
                </a:solidFill>
                <a:latin typeface="Arial"/>
              </a:rPr>
              <a:t>ZERO-KNOWLEDGE VERIFIABLE CREDENTIALS  ·  ON STELLAR SOROBAN</a:t>
            </a:r>
          </a:p>
        </p:txBody>
      </p:sp>
      <p:sp>
        <p:nvSpPr>
          <p:cNvPr id="5" name="Oval 4"/>
          <p:cNvSpPr/>
          <p:nvPr/>
        </p:nvSpPr>
        <p:spPr>
          <a:xfrm>
            <a:off x="891540" y="1961388"/>
            <a:ext cx="1600200" cy="1600200"/>
          </a:xfrm>
          <a:prstGeom prst="ellipse">
            <a:avLst/>
          </a:prstGeom>
          <a:gradFill rotWithShape="1">
            <a:gsLst>
              <a:gs pos="0">
                <a:srgbClr val="051A17"/>
              </a:gs>
              <a:gs pos="100000">
                <a:srgbClr val="1A2F2B"/>
              </a:gs>
            </a:gsLst>
            <a:lin scaled="0" ang="13500000"/>
          </a:gradFill>
          <a:ln w="38100">
            <a:solidFill>
              <a:srgbClr val="D0E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7562" y="2137410"/>
            <a:ext cx="1248156" cy="1248156"/>
          </a:xfrm>
          <a:prstGeom prst="ellipse">
            <a:avLst/>
          </a:prstGeom>
          <a:noFill/>
          <a:ln w="15240">
            <a:solidFill>
              <a:srgbClr val="D0E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flipV="1">
            <a:off x="1307592" y="2505456"/>
            <a:ext cx="384048" cy="576072"/>
          </a:xfrm>
          <a:prstGeom prst="line">
            <a:avLst/>
          </a:prstGeom>
          <a:ln w="20955">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691640" y="2393442"/>
            <a:ext cx="0" cy="688086"/>
          </a:xfrm>
          <a:prstGeom prst="line">
            <a:avLst/>
          </a:prstGeom>
          <a:ln w="20955">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691640" y="2505456"/>
            <a:ext cx="384048" cy="576072"/>
          </a:xfrm>
          <a:prstGeom prst="line">
            <a:avLst/>
          </a:prstGeom>
          <a:ln w="20955">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219581" y="2417445"/>
            <a:ext cx="176022" cy="176022"/>
          </a:xfrm>
          <a:prstGeom prst="ellipse">
            <a:avLst/>
          </a:prstGeom>
          <a:solidFill>
            <a:srgbClr val="D0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03629" y="2305431"/>
            <a:ext cx="176022" cy="176022"/>
          </a:xfrm>
          <a:prstGeom prst="ellipse">
            <a:avLst/>
          </a:prstGeom>
          <a:solidFill>
            <a:srgbClr val="D0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987677" y="2417445"/>
            <a:ext cx="176022" cy="176022"/>
          </a:xfrm>
          <a:prstGeom prst="ellipse">
            <a:avLst/>
          </a:prstGeom>
          <a:solidFill>
            <a:srgbClr val="D0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577225" y="2967113"/>
            <a:ext cx="228828" cy="228828"/>
          </a:xfrm>
          <a:prstGeom prst="ellipse">
            <a:avLst/>
          </a:prstGeom>
          <a:solidFill>
            <a:srgbClr val="D0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2212848"/>
            <a:ext cx="8503920" cy="1463040"/>
          </a:xfrm>
          <a:prstGeom prst="rect">
            <a:avLst/>
          </a:prstGeom>
          <a:noFill/>
        </p:spPr>
        <p:txBody>
          <a:bodyPr wrap="square" anchor="t" lIns="0" rIns="0" tIns="0" bIns="0">
            <a:spAutoFit/>
          </a:bodyPr>
          <a:lstStyle/>
          <a:p>
            <a:pPr algn="l">
              <a:lnSpc>
                <a:spcPct val="100000"/>
              </a:lnSpc>
              <a:spcBef>
                <a:spcPts val="0"/>
              </a:spcBef>
              <a:spcAft>
                <a:spcPts val="600"/>
              </a:spcAft>
            </a:pPr>
            <a:r>
              <a:rPr sz="8600" b="0" i="0">
                <a:solidFill>
                  <a:srgbClr val="FBF9F5"/>
                </a:solidFill>
                <a:latin typeface="EB Garamond"/>
              </a:rPr>
              <a:t>Zelyo</a:t>
            </a:r>
          </a:p>
        </p:txBody>
      </p:sp>
      <p:sp>
        <p:nvSpPr>
          <p:cNvPr id="15" name="TextBox 14"/>
          <p:cNvSpPr txBox="1"/>
          <p:nvPr/>
        </p:nvSpPr>
        <p:spPr>
          <a:xfrm>
            <a:off x="914400" y="3794760"/>
            <a:ext cx="10058400" cy="731520"/>
          </a:xfrm>
          <a:prstGeom prst="rect">
            <a:avLst/>
          </a:prstGeom>
          <a:noFill/>
        </p:spPr>
        <p:txBody>
          <a:bodyPr wrap="square" anchor="t" lIns="0" rIns="0" tIns="0" bIns="0">
            <a:spAutoFit/>
          </a:bodyPr>
          <a:lstStyle/>
          <a:p>
            <a:pPr algn="l">
              <a:lnSpc>
                <a:spcPct val="100000"/>
              </a:lnSpc>
              <a:spcBef>
                <a:spcPts val="0"/>
              </a:spcBef>
              <a:spcAft>
                <a:spcPts val="600"/>
              </a:spcAft>
            </a:pPr>
            <a:r>
              <a:rPr sz="3000" b="0" i="1">
                <a:solidFill>
                  <a:srgbClr val="D0E8E1"/>
                </a:solidFill>
                <a:latin typeface="EB Garamond"/>
              </a:rPr>
              <a:t>Prove one fact. Reveal nothing else.</a:t>
            </a:r>
          </a:p>
        </p:txBody>
      </p:sp>
      <p:sp>
        <p:nvSpPr>
          <p:cNvPr id="16" name="TextBox 15"/>
          <p:cNvSpPr txBox="1"/>
          <p:nvPr/>
        </p:nvSpPr>
        <p:spPr>
          <a:xfrm>
            <a:off x="914400" y="4434840"/>
            <a:ext cx="10058400" cy="822960"/>
          </a:xfrm>
          <a:prstGeom prst="rect">
            <a:avLst/>
          </a:prstGeom>
          <a:noFill/>
        </p:spPr>
        <p:txBody>
          <a:bodyPr wrap="square" anchor="t" lIns="0" rIns="0" tIns="0" bIns="0">
            <a:spAutoFit/>
          </a:bodyPr>
          <a:lstStyle/>
          <a:p>
            <a:pPr algn="l">
              <a:lnSpc>
                <a:spcPct val="120000"/>
              </a:lnSpc>
              <a:spcBef>
                <a:spcPts val="0"/>
              </a:spcBef>
              <a:spcAft>
                <a:spcPts val="600"/>
              </a:spcAft>
            </a:pPr>
            <a:r>
              <a:rPr sz="1500" b="0" i="0">
                <a:solidFill>
                  <a:srgbClr val="809792"/>
                </a:solidFill>
                <a:latin typeface="Georgia"/>
              </a:rPr>
              <a:t>A privacy-preserving identity layer for Stellar — credentials sealed with</a:t>
            </a:r>
          </a:p>
          <a:p>
            <a:pPr algn="l">
              <a:lnSpc>
                <a:spcPct val="120000"/>
              </a:lnSpc>
              <a:spcBef>
                <a:spcPts val="0"/>
              </a:spcBef>
              <a:spcAft>
                <a:spcPts val="600"/>
              </a:spcAft>
            </a:pPr>
            <a:r>
              <a:rPr sz="1500" b="0" i="0">
                <a:solidFill>
                  <a:srgbClr val="809792"/>
                </a:solidFill>
                <a:latin typeface="Georgia"/>
              </a:rPr>
              <a:t>zero-knowledge proofs, anchored on Soroban, usable once, bound to your wallet.</a:t>
            </a:r>
          </a:p>
        </p:txBody>
      </p:sp>
      <p:sp>
        <p:nvSpPr>
          <p:cNvPr id="17" name="Rectangle 16"/>
          <p:cNvSpPr/>
          <p:nvPr/>
        </p:nvSpPr>
        <p:spPr>
          <a:xfrm>
            <a:off x="914400" y="5623560"/>
            <a:ext cx="2194560" cy="19050"/>
          </a:xfrm>
          <a:prstGeom prst="rect">
            <a:avLst/>
          </a:prstGeom>
          <a:solidFill>
            <a:srgbClr val="8097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806440"/>
            <a:ext cx="10058400" cy="457200"/>
          </a:xfrm>
          <a:prstGeom prst="rect">
            <a:avLst/>
          </a:prstGeom>
          <a:noFill/>
        </p:spPr>
        <p:txBody>
          <a:bodyPr wrap="square" anchor="t" lIns="0" rIns="0" tIns="0" bIns="0">
            <a:spAutoFit/>
          </a:bodyPr>
          <a:lstStyle/>
          <a:p>
            <a:pPr algn="l">
              <a:lnSpc>
                <a:spcPct val="100000"/>
              </a:lnSpc>
              <a:spcBef>
                <a:spcPts val="0"/>
              </a:spcBef>
              <a:spcAft>
                <a:spcPts val="600"/>
              </a:spcAft>
            </a:pPr>
            <a:r>
              <a:rPr sz="1100" b="0" i="0" spc="80">
                <a:solidFill>
                  <a:srgbClr val="809792"/>
                </a:solidFill>
                <a:latin typeface="Arial"/>
              </a:rPr>
              <a:t>Investor &amp; Ecosystem Pitch  ·  v3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THE PROBLEM</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Proving yourself is all-or-nothing</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02</a:t>
            </a:r>
          </a:p>
        </p:txBody>
      </p:sp>
      <p:sp>
        <p:nvSpPr>
          <p:cNvPr id="15" name="TextBox 14"/>
          <p:cNvSpPr txBox="1"/>
          <p:nvPr/>
        </p:nvSpPr>
        <p:spPr>
          <a:xfrm>
            <a:off x="822960" y="1737360"/>
            <a:ext cx="10424160" cy="4114800"/>
          </a:xfrm>
          <a:prstGeom prst="rect">
            <a:avLst/>
          </a:prstGeom>
          <a:noFill/>
        </p:spPr>
        <p:txBody>
          <a:bodyPr wrap="square" anchor="t" lIns="0" rIns="0" tIns="0" bIns="0">
            <a:spAutoFit/>
          </a:bodyPr>
          <a:lstStyle/>
          <a:p>
            <a:pPr algn="l">
              <a:lnSpc>
                <a:spcPct val="112000"/>
              </a:lnSpc>
              <a:spcBef>
                <a:spcPts val="0"/>
              </a:spcBef>
              <a:spcAft>
                <a:spcPts val="1600"/>
              </a:spcAft>
            </a:pPr>
            <a:r>
              <a:rPr sz="1900" b="0" i="0">
                <a:solidFill>
                  <a:srgbClr val="809792"/>
                </a:solidFill>
                <a:latin typeface="Georgia"/>
              </a:rPr>
              <a:t>—  </a:t>
            </a:r>
            <a:r>
              <a:rPr sz="1900" b="1" i="0">
                <a:solidFill>
                  <a:srgbClr val="051A17"/>
                </a:solidFill>
                <a:latin typeface="Georgia"/>
              </a:rPr>
              <a:t>Over-disclosure.  </a:t>
            </a:r>
            <a:r>
              <a:rPr sz="1900" b="0" i="0">
                <a:solidFill>
                  <a:srgbClr val="051A17"/>
                </a:solidFill>
                <a:latin typeface="Georgia"/>
              </a:rPr>
              <a:t>Proving 'I completed this program' means handing over the whole diploma, transcript, or ID.</a:t>
            </a:r>
          </a:p>
          <a:p>
            <a:pPr algn="l">
              <a:lnSpc>
                <a:spcPct val="112000"/>
              </a:lnSpc>
              <a:spcBef>
                <a:spcPts val="0"/>
              </a:spcBef>
              <a:spcAft>
                <a:spcPts val="1600"/>
              </a:spcAft>
            </a:pPr>
            <a:r>
              <a:rPr sz="1900" b="0" i="0">
                <a:solidFill>
                  <a:srgbClr val="809792"/>
                </a:solidFill>
                <a:latin typeface="Georgia"/>
              </a:rPr>
              <a:t>—  </a:t>
            </a:r>
            <a:r>
              <a:rPr sz="1900" b="1" i="0">
                <a:solidFill>
                  <a:srgbClr val="051A17"/>
                </a:solidFill>
                <a:latin typeface="Georgia"/>
              </a:rPr>
              <a:t>Centralized honeypots.  </a:t>
            </a:r>
            <a:r>
              <a:rPr sz="1900" b="0" i="0">
                <a:solidFill>
                  <a:srgbClr val="051A17"/>
                </a:solidFill>
                <a:latin typeface="Georgia"/>
              </a:rPr>
              <a:t>Every platform that verifies credentials ends up storing the PII — and becomes a breach target.</a:t>
            </a:r>
          </a:p>
          <a:p>
            <a:pPr algn="l">
              <a:lnSpc>
                <a:spcPct val="112000"/>
              </a:lnSpc>
              <a:spcBef>
                <a:spcPts val="0"/>
              </a:spcBef>
              <a:spcAft>
                <a:spcPts val="1600"/>
              </a:spcAft>
            </a:pPr>
            <a:r>
              <a:rPr sz="1900" b="0" i="0">
                <a:solidFill>
                  <a:srgbClr val="809792"/>
                </a:solidFill>
                <a:latin typeface="Georgia"/>
              </a:rPr>
              <a:t>—  </a:t>
            </a:r>
            <a:r>
              <a:rPr sz="1900" b="1" i="0">
                <a:solidFill>
                  <a:srgbClr val="051A17"/>
                </a:solidFill>
                <a:latin typeface="Georgia"/>
              </a:rPr>
              <a:t>No reuse without doxxing.  </a:t>
            </a:r>
            <a:r>
              <a:rPr sz="1900" b="0" i="0">
                <a:solidFill>
                  <a:srgbClr val="051A17"/>
                </a:solidFill>
                <a:latin typeface="Georgia"/>
              </a:rPr>
              <a:t>Stopping the same credential being used twice normally means linking each use to a real identity.</a:t>
            </a:r>
          </a:p>
          <a:p>
            <a:pPr algn="l">
              <a:lnSpc>
                <a:spcPct val="112000"/>
              </a:lnSpc>
              <a:spcBef>
                <a:spcPts val="0"/>
              </a:spcBef>
              <a:spcAft>
                <a:spcPts val="1600"/>
              </a:spcAft>
            </a:pPr>
            <a:r>
              <a:rPr sz="1900" b="0" i="0">
                <a:solidFill>
                  <a:srgbClr val="809792"/>
                </a:solidFill>
                <a:latin typeface="Georgia"/>
              </a:rPr>
              <a:t>—  </a:t>
            </a:r>
            <a:r>
              <a:rPr sz="1900" b="1" i="0">
                <a:solidFill>
                  <a:srgbClr val="051A17"/>
                </a:solidFill>
                <a:latin typeface="Georgia"/>
              </a:rPr>
              <a:t>No user control.  </a:t>
            </a:r>
            <a:r>
              <a:rPr sz="1900" b="0" i="0">
                <a:solidFill>
                  <a:srgbClr val="051A17"/>
                </a:solidFill>
                <a:latin typeface="Georgia"/>
              </a:rPr>
              <a:t>Once a document is shared, the holder can't limit what a verifier learns — or keeps — forever.</a:t>
            </a:r>
          </a:p>
        </p:txBody>
      </p:sp>
      <p:sp>
        <p:nvSpPr>
          <p:cNvPr id="16" name="TextBox 15"/>
          <p:cNvSpPr txBox="1"/>
          <p:nvPr/>
        </p:nvSpPr>
        <p:spPr>
          <a:xfrm>
            <a:off x="822960" y="5212080"/>
            <a:ext cx="10424160" cy="822960"/>
          </a:xfrm>
          <a:prstGeom prst="rect">
            <a:avLst/>
          </a:prstGeom>
          <a:noFill/>
        </p:spPr>
        <p:txBody>
          <a:bodyPr wrap="square" anchor="t" lIns="0" rIns="0" tIns="0" bIns="0">
            <a:spAutoFit/>
          </a:bodyPr>
          <a:lstStyle/>
          <a:p>
            <a:pPr algn="l">
              <a:lnSpc>
                <a:spcPct val="120000"/>
              </a:lnSpc>
              <a:spcBef>
                <a:spcPts val="0"/>
              </a:spcBef>
              <a:spcAft>
                <a:spcPts val="600"/>
              </a:spcAft>
            </a:pPr>
            <a:r>
              <a:rPr sz="1600" b="0" i="1">
                <a:solidFill>
                  <a:srgbClr val="635E56"/>
                </a:solidFill>
                <a:latin typeface="Georgia"/>
              </a:rPr>
              <a:t>For freelancers, migrant workers, and anyone crossing borders, the cost of proving you're qualified is your privacy itself.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THE SOLUTION</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Credentials sealed with zero-knowledge proofs</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03</a:t>
            </a:r>
          </a:p>
        </p:txBody>
      </p:sp>
      <p:sp>
        <p:nvSpPr>
          <p:cNvPr id="15" name="TextBox 14"/>
          <p:cNvSpPr txBox="1"/>
          <p:nvPr/>
        </p:nvSpPr>
        <p:spPr>
          <a:xfrm>
            <a:off x="822960" y="1737360"/>
            <a:ext cx="10424160" cy="1097280"/>
          </a:xfrm>
          <a:prstGeom prst="rect">
            <a:avLst/>
          </a:prstGeom>
          <a:noFill/>
        </p:spPr>
        <p:txBody>
          <a:bodyPr wrap="square" anchor="t" lIns="0" rIns="0" tIns="0" bIns="0">
            <a:spAutoFit/>
          </a:bodyPr>
          <a:lstStyle/>
          <a:p>
            <a:pPr algn="l">
              <a:lnSpc>
                <a:spcPct val="125000"/>
              </a:lnSpc>
              <a:spcBef>
                <a:spcPts val="0"/>
              </a:spcBef>
              <a:spcAft>
                <a:spcPts val="600"/>
              </a:spcAft>
            </a:pPr>
            <a:r>
              <a:rPr sz="1800" b="0" i="0">
                <a:solidFill>
                  <a:srgbClr val="051A17"/>
                </a:solidFill>
                <a:latin typeface="Georgia"/>
              </a:rPr>
              <a:t>An issuer mints a credential as a leaf in a Merkle tree and anchors the root on Stellar. The holder then generates a zero-knowledge proof </a:t>
            </a:r>
            <a:r>
              <a:rPr sz="1800" b="1" i="0">
                <a:solidFill>
                  <a:srgbClr val="051A17"/>
                </a:solidFill>
                <a:latin typeface="Georgia"/>
              </a:rPr>
              <a:t>in their own browser</a:t>
            </a:r>
            <a:r>
              <a:rPr sz="1800" b="0" i="0">
                <a:solidFill>
                  <a:srgbClr val="051A17"/>
                </a:solidFill>
                <a:latin typeface="Georgia"/>
              </a:rPr>
              <a:t> that proves exactly one fact — while name, grade and dates never leave their device.</a:t>
            </a:r>
          </a:p>
        </p:txBody>
      </p:sp>
      <p:sp>
        <p:nvSpPr>
          <p:cNvPr id="16" name="Rectangle 15"/>
          <p:cNvSpPr/>
          <p:nvPr/>
        </p:nvSpPr>
        <p:spPr>
          <a:xfrm>
            <a:off x="822960" y="3063240"/>
            <a:ext cx="3310128" cy="265176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3063240"/>
            <a:ext cx="27940" cy="2651760"/>
          </a:xfrm>
          <a:prstGeom prst="rect">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227832"/>
            <a:ext cx="2898648"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Self-sovereign</a:t>
            </a:r>
          </a:p>
        </p:txBody>
      </p:sp>
      <p:sp>
        <p:nvSpPr>
          <p:cNvPr id="19" name="TextBox 18"/>
          <p:cNvSpPr txBox="1"/>
          <p:nvPr/>
        </p:nvSpPr>
        <p:spPr>
          <a:xfrm>
            <a:off x="1051560" y="3630168"/>
            <a:ext cx="2898648" cy="201168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The holder's secret is generated and stored client-side only. The server only ever sees a public commitment — never the secret, never the raw credential.</a:t>
            </a:r>
          </a:p>
        </p:txBody>
      </p:sp>
      <p:sp>
        <p:nvSpPr>
          <p:cNvPr id="20" name="Rectangle 19"/>
          <p:cNvSpPr/>
          <p:nvPr/>
        </p:nvSpPr>
        <p:spPr>
          <a:xfrm>
            <a:off x="4343400" y="3063240"/>
            <a:ext cx="3310128" cy="265176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063240"/>
            <a:ext cx="27940" cy="2651760"/>
          </a:xfrm>
          <a:prstGeom prst="rect">
            <a:avLst/>
          </a:prstGeom>
          <a:solidFill>
            <a:srgbClr val="1A2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3227832"/>
            <a:ext cx="2898648"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Selective disclosure</a:t>
            </a:r>
          </a:p>
        </p:txBody>
      </p:sp>
      <p:sp>
        <p:nvSpPr>
          <p:cNvPr id="23" name="TextBox 22"/>
          <p:cNvSpPr txBox="1"/>
          <p:nvPr/>
        </p:nvSpPr>
        <p:spPr>
          <a:xfrm>
            <a:off x="4572000" y="3630168"/>
            <a:ext cx="2898648" cy="201168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Reveal a single attribute (e.g. track) and nothing else. The proof is bound to the holder's Stellar wallet, so it can't be transferred or replayed.</a:t>
            </a:r>
          </a:p>
        </p:txBody>
      </p:sp>
      <p:sp>
        <p:nvSpPr>
          <p:cNvPr id="24" name="Rectangle 23"/>
          <p:cNvSpPr/>
          <p:nvPr/>
        </p:nvSpPr>
        <p:spPr>
          <a:xfrm>
            <a:off x="7863840" y="3063240"/>
            <a:ext cx="3310128" cy="265176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63840" y="3063240"/>
            <a:ext cx="27940" cy="2651760"/>
          </a:xfrm>
          <a:prstGeom prst="rect">
            <a:avLst/>
          </a:prstGeom>
          <a:solidFill>
            <a:srgbClr val="635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92440" y="3227832"/>
            <a:ext cx="2898648"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Nothing personal on-chain</a:t>
            </a:r>
          </a:p>
        </p:txBody>
      </p:sp>
      <p:sp>
        <p:nvSpPr>
          <p:cNvPr id="27" name="TextBox 26"/>
          <p:cNvSpPr txBox="1"/>
          <p:nvPr/>
        </p:nvSpPr>
        <p:spPr>
          <a:xfrm>
            <a:off x="8092440" y="3630168"/>
            <a:ext cx="2898648" cy="201168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Stellar records only a one-time nullifier + the bound wallet address. No PII, no document, no secret is ever written to the chain.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HOW IT WORKS</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Mint → Prove → Verify → Reward</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04</a:t>
            </a:r>
          </a:p>
        </p:txBody>
      </p:sp>
      <p:sp>
        <p:nvSpPr>
          <p:cNvPr id="15" name="Rectangle 14"/>
          <p:cNvSpPr/>
          <p:nvPr/>
        </p:nvSpPr>
        <p:spPr>
          <a:xfrm>
            <a:off x="822960" y="2286000"/>
            <a:ext cx="2542032" cy="283464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2286000"/>
            <a:ext cx="27940" cy="2834640"/>
          </a:xfrm>
          <a:prstGeom prst="rect">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450592"/>
            <a:ext cx="2130552"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01  MINT</a:t>
            </a:r>
          </a:p>
        </p:txBody>
      </p:sp>
      <p:sp>
        <p:nvSpPr>
          <p:cNvPr id="18" name="TextBox 17"/>
          <p:cNvSpPr txBox="1"/>
          <p:nvPr/>
        </p:nvSpPr>
        <p:spPr>
          <a:xfrm>
            <a:off x="1051560" y="2852928"/>
            <a:ext cx="2130552" cy="219456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Issuer mints a credential → Poseidon leaf → Merkle insert → root published on-chain via the credential_registry contract.</a:t>
            </a:r>
          </a:p>
        </p:txBody>
      </p:sp>
      <p:sp>
        <p:nvSpPr>
          <p:cNvPr id="19" name="TextBox 18"/>
          <p:cNvSpPr txBox="1"/>
          <p:nvPr/>
        </p:nvSpPr>
        <p:spPr>
          <a:xfrm>
            <a:off x="3346704" y="3383280"/>
            <a:ext cx="182880" cy="365760"/>
          </a:xfrm>
          <a:prstGeom prst="rect">
            <a:avLst/>
          </a:prstGeom>
          <a:noFill/>
        </p:spPr>
        <p:txBody>
          <a:bodyPr wrap="square" anchor="t" lIns="0" rIns="0" tIns="0" bIns="0">
            <a:spAutoFit/>
          </a:bodyPr>
          <a:lstStyle/>
          <a:p>
            <a:pPr algn="ctr">
              <a:lnSpc>
                <a:spcPct val="100000"/>
              </a:lnSpc>
              <a:spcBef>
                <a:spcPts val="0"/>
              </a:spcBef>
              <a:spcAft>
                <a:spcPts val="600"/>
              </a:spcAft>
            </a:pPr>
            <a:r>
              <a:rPr sz="2600" b="0" i="0">
                <a:solidFill>
                  <a:srgbClr val="809792"/>
                </a:solidFill>
                <a:latin typeface="EB Garamond"/>
              </a:rPr>
              <a:t>›</a:t>
            </a:r>
          </a:p>
        </p:txBody>
      </p:sp>
      <p:sp>
        <p:nvSpPr>
          <p:cNvPr id="20" name="Rectangle 19"/>
          <p:cNvSpPr/>
          <p:nvPr/>
        </p:nvSpPr>
        <p:spPr>
          <a:xfrm>
            <a:off x="3511296" y="2286000"/>
            <a:ext cx="2542032" cy="283464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511296" y="2286000"/>
            <a:ext cx="27940" cy="2834640"/>
          </a:xfrm>
          <a:prstGeom prst="rect">
            <a:avLst/>
          </a:prstGeom>
          <a:solidFill>
            <a:srgbClr val="1A2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9896" y="2450592"/>
            <a:ext cx="2130552"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02  PROVE</a:t>
            </a:r>
          </a:p>
        </p:txBody>
      </p:sp>
      <p:sp>
        <p:nvSpPr>
          <p:cNvPr id="23" name="TextBox 22"/>
          <p:cNvSpPr txBox="1"/>
          <p:nvPr/>
        </p:nvSpPr>
        <p:spPr>
          <a:xfrm>
            <a:off x="3739896" y="2852928"/>
            <a:ext cx="2130552" cy="219456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Holder generates an UltraHonk ZK proof in-browser (Noir + bb.js). The witness never leaves the device.</a:t>
            </a:r>
          </a:p>
        </p:txBody>
      </p:sp>
      <p:sp>
        <p:nvSpPr>
          <p:cNvPr id="24" name="TextBox 23"/>
          <p:cNvSpPr txBox="1"/>
          <p:nvPr/>
        </p:nvSpPr>
        <p:spPr>
          <a:xfrm>
            <a:off x="6035040" y="3383280"/>
            <a:ext cx="182880" cy="365760"/>
          </a:xfrm>
          <a:prstGeom prst="rect">
            <a:avLst/>
          </a:prstGeom>
          <a:noFill/>
        </p:spPr>
        <p:txBody>
          <a:bodyPr wrap="square" anchor="t" lIns="0" rIns="0" tIns="0" bIns="0">
            <a:spAutoFit/>
          </a:bodyPr>
          <a:lstStyle/>
          <a:p>
            <a:pPr algn="ctr">
              <a:lnSpc>
                <a:spcPct val="100000"/>
              </a:lnSpc>
              <a:spcBef>
                <a:spcPts val="0"/>
              </a:spcBef>
              <a:spcAft>
                <a:spcPts val="600"/>
              </a:spcAft>
            </a:pPr>
            <a:r>
              <a:rPr sz="2600" b="0" i="0">
                <a:solidFill>
                  <a:srgbClr val="809792"/>
                </a:solidFill>
                <a:latin typeface="EB Garamond"/>
              </a:rPr>
              <a:t>›</a:t>
            </a:r>
          </a:p>
        </p:txBody>
      </p:sp>
      <p:sp>
        <p:nvSpPr>
          <p:cNvPr id="25" name="Rectangle 24"/>
          <p:cNvSpPr/>
          <p:nvPr/>
        </p:nvSpPr>
        <p:spPr>
          <a:xfrm>
            <a:off x="6199632" y="2286000"/>
            <a:ext cx="2542032" cy="283464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9632" y="2286000"/>
            <a:ext cx="27940" cy="2834640"/>
          </a:xfrm>
          <a:prstGeom prst="rect">
            <a:avLst/>
          </a:prstGeom>
          <a:solidFill>
            <a:srgbClr val="635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8232" y="2450592"/>
            <a:ext cx="2130552"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03  VERIFY</a:t>
            </a:r>
          </a:p>
        </p:txBody>
      </p:sp>
      <p:sp>
        <p:nvSpPr>
          <p:cNvPr id="28" name="TextBox 27"/>
          <p:cNvSpPr txBox="1"/>
          <p:nvPr/>
        </p:nvSpPr>
        <p:spPr>
          <a:xfrm>
            <a:off x="6428232" y="2852928"/>
            <a:ext cx="2130552" cy="219456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Proof is checked and the registry enforces root validity, address binding &amp; nullifier uniqueness on Soroban.</a:t>
            </a:r>
          </a:p>
        </p:txBody>
      </p:sp>
      <p:sp>
        <p:nvSpPr>
          <p:cNvPr id="29" name="TextBox 28"/>
          <p:cNvSpPr txBox="1"/>
          <p:nvPr/>
        </p:nvSpPr>
        <p:spPr>
          <a:xfrm>
            <a:off x="8723376" y="3383280"/>
            <a:ext cx="182880" cy="365760"/>
          </a:xfrm>
          <a:prstGeom prst="rect">
            <a:avLst/>
          </a:prstGeom>
          <a:noFill/>
        </p:spPr>
        <p:txBody>
          <a:bodyPr wrap="square" anchor="t" lIns="0" rIns="0" tIns="0" bIns="0">
            <a:spAutoFit/>
          </a:bodyPr>
          <a:lstStyle/>
          <a:p>
            <a:pPr algn="ctr">
              <a:lnSpc>
                <a:spcPct val="100000"/>
              </a:lnSpc>
              <a:spcBef>
                <a:spcPts val="0"/>
              </a:spcBef>
              <a:spcAft>
                <a:spcPts val="600"/>
              </a:spcAft>
            </a:pPr>
            <a:r>
              <a:rPr sz="2600" b="0" i="0">
                <a:solidFill>
                  <a:srgbClr val="809792"/>
                </a:solidFill>
                <a:latin typeface="EB Garamond"/>
              </a:rPr>
              <a:t>›</a:t>
            </a:r>
          </a:p>
        </p:txBody>
      </p:sp>
      <p:sp>
        <p:nvSpPr>
          <p:cNvPr id="30" name="Rectangle 29"/>
          <p:cNvSpPr/>
          <p:nvPr/>
        </p:nvSpPr>
        <p:spPr>
          <a:xfrm>
            <a:off x="8887968" y="2286000"/>
            <a:ext cx="2542032" cy="283464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887968" y="2286000"/>
            <a:ext cx="27940" cy="2834640"/>
          </a:xfrm>
          <a:prstGeom prst="rect">
            <a:avLst/>
          </a:prstGeom>
          <a:solidFill>
            <a:srgbClr val="2512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16568" y="2450592"/>
            <a:ext cx="2130552"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04  REWARD</a:t>
            </a:r>
          </a:p>
        </p:txBody>
      </p:sp>
      <p:sp>
        <p:nvSpPr>
          <p:cNvPr id="33" name="TextBox 32"/>
          <p:cNvSpPr txBox="1"/>
          <p:nvPr/>
        </p:nvSpPr>
        <p:spPr>
          <a:xfrm>
            <a:off x="9116568" y="2852928"/>
            <a:ext cx="2130552" cy="219456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A job gate releases a Stellar-native reward (claimable balance / verified flag) — Sybil-blocked from double claims.</a:t>
            </a:r>
          </a:p>
        </p:txBody>
      </p:sp>
      <p:sp>
        <p:nvSpPr>
          <p:cNvPr id="34" name="TextBox 33"/>
          <p:cNvSpPr txBox="1"/>
          <p:nvPr/>
        </p:nvSpPr>
        <p:spPr>
          <a:xfrm>
            <a:off x="822960" y="5440680"/>
            <a:ext cx="10424160" cy="640080"/>
          </a:xfrm>
          <a:prstGeom prst="rect">
            <a:avLst/>
          </a:prstGeom>
          <a:noFill/>
        </p:spPr>
        <p:txBody>
          <a:bodyPr wrap="square" anchor="t" lIns="0" rIns="0" tIns="0" bIns="0">
            <a:spAutoFit/>
          </a:bodyPr>
          <a:lstStyle/>
          <a:p>
            <a:pPr algn="l">
              <a:lnSpc>
                <a:spcPct val="115000"/>
              </a:lnSpc>
              <a:spcBef>
                <a:spcPts val="0"/>
              </a:spcBef>
              <a:spcAft>
                <a:spcPts val="600"/>
              </a:spcAft>
            </a:pPr>
            <a:r>
              <a:rPr sz="1400" b="0" i="1">
                <a:solidFill>
                  <a:srgbClr val="635E56"/>
                </a:solidFill>
                <a:latin typeface="Georgia"/>
              </a:rPr>
              <a:t>Today (Path B): proof verified off-chain, result mirrored on-chain. Next (Path A): fully on-chain verification — now natively supported (see 'Why now').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WHY NOW</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Stellar just shipped our core primitive</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05</a:t>
            </a:r>
          </a:p>
        </p:txBody>
      </p:sp>
      <p:sp>
        <p:nvSpPr>
          <p:cNvPr id="15" name="TextBox 14"/>
          <p:cNvSpPr txBox="1"/>
          <p:nvPr/>
        </p:nvSpPr>
        <p:spPr>
          <a:xfrm>
            <a:off x="822960" y="1737360"/>
            <a:ext cx="10424160" cy="4114800"/>
          </a:xfrm>
          <a:prstGeom prst="rect">
            <a:avLst/>
          </a:prstGeom>
          <a:noFill/>
        </p:spPr>
        <p:txBody>
          <a:bodyPr wrap="square" anchor="t" lIns="0" rIns="0" tIns="0" bIns="0">
            <a:spAutoFit/>
          </a:bodyPr>
          <a:lstStyle/>
          <a:p>
            <a:pPr algn="l">
              <a:lnSpc>
                <a:spcPct val="112000"/>
              </a:lnSpc>
              <a:spcBef>
                <a:spcPts val="0"/>
              </a:spcBef>
              <a:spcAft>
                <a:spcPts val="1300"/>
              </a:spcAft>
            </a:pPr>
            <a:r>
              <a:rPr sz="1750" b="0" i="0">
                <a:solidFill>
                  <a:srgbClr val="809792"/>
                </a:solidFill>
                <a:latin typeface="Georgia"/>
              </a:rPr>
              <a:t>—  </a:t>
            </a:r>
            <a:r>
              <a:rPr sz="1750" b="1" i="0">
                <a:solidFill>
                  <a:srgbClr val="051A17"/>
                </a:solidFill>
                <a:latin typeface="Georgia"/>
              </a:rPr>
              <a:t>Protocol 25 “X-Ray” (Jan 2026).  </a:t>
            </a:r>
            <a:r>
              <a:rPr sz="1750" b="0" i="0">
                <a:solidFill>
                  <a:srgbClr val="051A17"/>
                </a:solidFill>
                <a:latin typeface="Georgia"/>
              </a:rPr>
              <a:t>Stellar's first major privacy milestone — native BN254 curve ops (CAP-74) and native Poseidon/Poseidon2 hashing (CAP-75).</a:t>
            </a:r>
          </a:p>
          <a:p>
            <a:pPr algn="l">
              <a:lnSpc>
                <a:spcPct val="112000"/>
              </a:lnSpc>
              <a:spcBef>
                <a:spcPts val="0"/>
              </a:spcBef>
              <a:spcAft>
                <a:spcPts val="1300"/>
              </a:spcAft>
            </a:pPr>
            <a:r>
              <a:rPr sz="1750" b="0" i="0">
                <a:solidFill>
                  <a:srgbClr val="809792"/>
                </a:solidFill>
                <a:latin typeface="Georgia"/>
              </a:rPr>
              <a:t>—  </a:t>
            </a:r>
            <a:r>
              <a:rPr sz="1750" b="1" i="0">
                <a:solidFill>
                  <a:srgbClr val="051A17"/>
                </a:solidFill>
                <a:latin typeface="Georgia"/>
              </a:rPr>
              <a:t>Protocol 26 “Yardstick” — live on mainnet May 6, 2026.  </a:t>
            </a:r>
            <a:r>
              <a:rPr sz="1750" b="0" i="0">
                <a:solidFill>
                  <a:srgbClr val="051A17"/>
                </a:solidFill>
                <a:latin typeface="Georgia"/>
              </a:rPr>
              <a:t>More BN254 functions + precise TTL control for storing nullifiers &amp; roots cheaply.</a:t>
            </a:r>
          </a:p>
          <a:p>
            <a:pPr algn="l">
              <a:lnSpc>
                <a:spcPct val="112000"/>
              </a:lnSpc>
              <a:spcBef>
                <a:spcPts val="0"/>
              </a:spcBef>
              <a:spcAft>
                <a:spcPts val="1300"/>
              </a:spcAft>
            </a:pPr>
            <a:r>
              <a:rPr sz="1750" b="0" i="0">
                <a:solidFill>
                  <a:srgbClr val="809792"/>
                </a:solidFill>
                <a:latin typeface="Georgia"/>
              </a:rPr>
              <a:t>—  </a:t>
            </a:r>
            <a:r>
              <a:rPr sz="1750" b="1" i="0">
                <a:solidFill>
                  <a:srgbClr val="051A17"/>
                </a:solidFill>
                <a:latin typeface="Georgia"/>
              </a:rPr>
              <a:t>Noir's backend is BN254.  </a:t>
            </a:r>
            <a:r>
              <a:rPr sz="1750" b="0" i="0">
                <a:solidFill>
                  <a:srgbClr val="051A17"/>
                </a:solidFill>
                <a:latin typeface="Georgia"/>
              </a:rPr>
              <a:t>The exact curve Stellar now accelerates natively — so on-chain proof verification + Poseidon Merkle checks are a single host call, no protocol changes.</a:t>
            </a:r>
          </a:p>
          <a:p>
            <a:pPr algn="l">
              <a:lnSpc>
                <a:spcPct val="112000"/>
              </a:lnSpc>
              <a:spcBef>
                <a:spcPts val="0"/>
              </a:spcBef>
              <a:spcAft>
                <a:spcPts val="1300"/>
              </a:spcAft>
            </a:pPr>
            <a:r>
              <a:rPr sz="1750" b="0" i="0">
                <a:solidFill>
                  <a:srgbClr val="809792"/>
                </a:solidFill>
                <a:latin typeface="Georgia"/>
              </a:rPr>
              <a:t>—  </a:t>
            </a:r>
            <a:r>
              <a:rPr sz="1750" b="1" i="0">
                <a:solidFill>
                  <a:srgbClr val="051A17"/>
                </a:solidFill>
                <a:latin typeface="Georgia"/>
              </a:rPr>
              <a:t>SDF is marketing this category.  </a:t>
            </a:r>
            <a:r>
              <a:rPr sz="1750" b="0" i="0">
                <a:solidFill>
                  <a:srgbClr val="051A17"/>
                </a:solidFill>
                <a:latin typeface="Georgia"/>
              </a:rPr>
              <a:t>'Real-world zero-knowledge use cases' and 'KYC on Stellar' are official 2026 narratives — strong grant &amp; partnership appetite.</a:t>
            </a:r>
          </a:p>
        </p:txBody>
      </p:sp>
      <p:sp>
        <p:nvSpPr>
          <p:cNvPr id="16" name="TextBox 15"/>
          <p:cNvSpPr txBox="1"/>
          <p:nvPr/>
        </p:nvSpPr>
        <p:spPr>
          <a:xfrm>
            <a:off x="822960" y="5440680"/>
            <a:ext cx="10424160" cy="640080"/>
          </a:xfrm>
          <a:prstGeom prst="rect">
            <a:avLst/>
          </a:prstGeom>
          <a:noFill/>
        </p:spPr>
        <p:txBody>
          <a:bodyPr wrap="square" anchor="t" lIns="0" rIns="0" tIns="0" bIns="0">
            <a:spAutoFit/>
          </a:bodyPr>
          <a:lstStyle/>
          <a:p>
            <a:pPr algn="l">
              <a:lnSpc>
                <a:spcPct val="120000"/>
              </a:lnSpc>
              <a:spcBef>
                <a:spcPts val="0"/>
              </a:spcBef>
              <a:spcAft>
                <a:spcPts val="600"/>
              </a:spcAft>
            </a:pPr>
            <a:r>
              <a:rPr sz="1500" b="0" i="1">
                <a:solidFill>
                  <a:srgbClr val="051A17"/>
                </a:solidFill>
                <a:latin typeface="Georgia"/>
              </a:rPr>
              <a:t>Zelyo's hardest technical bet — on-chain ZK verification — turned from 'aspirational' into an officially-supported Stellar primitive, right as we need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ECOSYSTEM IMPACT</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The identity layer Stellar is missing</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06</a:t>
            </a:r>
          </a:p>
        </p:txBody>
      </p:sp>
      <p:sp>
        <p:nvSpPr>
          <p:cNvPr id="15" name="Rectangle 14"/>
          <p:cNvSpPr/>
          <p:nvPr/>
        </p:nvSpPr>
        <p:spPr>
          <a:xfrm>
            <a:off x="822960" y="2103120"/>
            <a:ext cx="5120640" cy="160020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2103120"/>
            <a:ext cx="27940" cy="1600200"/>
          </a:xfrm>
          <a:prstGeom prst="rect">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67712"/>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Sybil-resistant airdrops &amp; rewards</a:t>
            </a:r>
          </a:p>
        </p:txBody>
      </p:sp>
      <p:sp>
        <p:nvSpPr>
          <p:cNvPr id="18" name="TextBox 17"/>
          <p:cNvSpPr txBox="1"/>
          <p:nvPr/>
        </p:nvSpPr>
        <p:spPr>
          <a:xfrm>
            <a:off x="1051560" y="2670048"/>
            <a:ext cx="4709160" cy="96012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Gate token campaigns to one-proof-per-real-person without collecting identity — kills bot farming.</a:t>
            </a:r>
          </a:p>
        </p:txBody>
      </p:sp>
      <p:sp>
        <p:nvSpPr>
          <p:cNvPr id="19" name="Rectangle 18"/>
          <p:cNvSpPr/>
          <p:nvPr/>
        </p:nvSpPr>
        <p:spPr>
          <a:xfrm>
            <a:off x="6126480" y="2103120"/>
            <a:ext cx="5120640" cy="160020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2103120"/>
            <a:ext cx="27940" cy="1600200"/>
          </a:xfrm>
          <a:prstGeom prst="rect">
            <a:avLst/>
          </a:prstGeom>
          <a:solidFill>
            <a:srgbClr val="1A2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2267712"/>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Reusable KYC for anchors</a:t>
            </a:r>
          </a:p>
        </p:txBody>
      </p:sp>
      <p:sp>
        <p:nvSpPr>
          <p:cNvPr id="22" name="TextBox 21"/>
          <p:cNvSpPr txBox="1"/>
          <p:nvPr/>
        </p:nvSpPr>
        <p:spPr>
          <a:xfrm>
            <a:off x="6355080" y="2670048"/>
            <a:ext cx="4709160" cy="96012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Prove 'KYC-verified / over-18 / EU-resident' once, re-use everywhere via ZK — no PII re-sent (SEP-12).</a:t>
            </a:r>
          </a:p>
        </p:txBody>
      </p:sp>
      <p:sp>
        <p:nvSpPr>
          <p:cNvPr id="23" name="Rectangle 22"/>
          <p:cNvSpPr/>
          <p:nvPr/>
        </p:nvSpPr>
        <p:spPr>
          <a:xfrm>
            <a:off x="822960" y="3904488"/>
            <a:ext cx="5120640" cy="160020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3904488"/>
            <a:ext cx="27940" cy="1600200"/>
          </a:xfrm>
          <a:prstGeom prst="rect">
            <a:avLst/>
          </a:prstGeom>
          <a:solidFill>
            <a:srgbClr val="635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069080"/>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Privacy-first eligibility for DeFi &amp; DAOs</a:t>
            </a:r>
          </a:p>
        </p:txBody>
      </p:sp>
      <p:sp>
        <p:nvSpPr>
          <p:cNvPr id="26" name="TextBox 25"/>
          <p:cNvSpPr txBox="1"/>
          <p:nvPr/>
        </p:nvSpPr>
        <p:spPr>
          <a:xfrm>
            <a:off x="1051560" y="4471416"/>
            <a:ext cx="4709160" cy="96012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Blend, Soroswap and governance can check credentials/attributes without doxxing users.</a:t>
            </a:r>
          </a:p>
        </p:txBody>
      </p:sp>
      <p:sp>
        <p:nvSpPr>
          <p:cNvPr id="27" name="Rectangle 26"/>
          <p:cNvSpPr/>
          <p:nvPr/>
        </p:nvSpPr>
        <p:spPr>
          <a:xfrm>
            <a:off x="6126480" y="3904488"/>
            <a:ext cx="5120640" cy="160020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3904488"/>
            <a:ext cx="27940" cy="1600200"/>
          </a:xfrm>
          <a:prstGeom prst="rect">
            <a:avLst/>
          </a:prstGeom>
          <a:solidFill>
            <a:srgbClr val="2512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4069080"/>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Showcases Soroban beyond payments</a:t>
            </a:r>
          </a:p>
        </p:txBody>
      </p:sp>
      <p:sp>
        <p:nvSpPr>
          <p:cNvPr id="30" name="TextBox 29"/>
          <p:cNvSpPr txBox="1"/>
          <p:nvPr/>
        </p:nvSpPr>
        <p:spPr>
          <a:xfrm>
            <a:off x="6355080" y="4471416"/>
            <a:ext cx="4709160" cy="96012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A flagship, non-financial use of BN254/Poseidon host functions — exactly SDF's 2026 privacy narrative.</a:t>
            </a:r>
          </a:p>
        </p:txBody>
      </p:sp>
      <p:sp>
        <p:nvSpPr>
          <p:cNvPr id="31" name="TextBox 30"/>
          <p:cNvSpPr txBox="1"/>
          <p:nvPr/>
        </p:nvSpPr>
        <p:spPr>
          <a:xfrm>
            <a:off x="822960" y="5669280"/>
            <a:ext cx="10424160" cy="548640"/>
          </a:xfrm>
          <a:prstGeom prst="rect">
            <a:avLst/>
          </a:prstGeom>
          <a:noFill/>
        </p:spPr>
        <p:txBody>
          <a:bodyPr wrap="square" anchor="t" lIns="0" rIns="0" tIns="0" bIns="0">
            <a:spAutoFit/>
          </a:bodyPr>
          <a:lstStyle/>
          <a:p>
            <a:pPr algn="l">
              <a:lnSpc>
                <a:spcPct val="120000"/>
              </a:lnSpc>
              <a:spcBef>
                <a:spcPts val="0"/>
              </a:spcBef>
              <a:spcAft>
                <a:spcPts val="600"/>
              </a:spcAft>
            </a:pPr>
            <a:r>
              <a:rPr sz="1450" b="0" i="1">
                <a:solidFill>
                  <a:srgbClr val="635E56"/>
                </a:solidFill>
                <a:latin typeface="Georgia"/>
              </a:rPr>
              <a:t>Every proof adds Soroban transactions, and every integration pulls anchors, wallets and DeFi into a shared privacy standard — network effects for Stellar, not just Zelyo.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ECOSYSTEM INTEGRATIONS</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Built to compose with Stellar</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07</a:t>
            </a:r>
          </a:p>
        </p:txBody>
      </p:sp>
      <p:graphicFrame>
        <p:nvGraphicFramePr>
          <p:cNvPr id="15" name="Table 14"/>
          <p:cNvGraphicFramePr>
            <a:graphicFrameLocks noGrp="1"/>
          </p:cNvGraphicFramePr>
          <p:nvPr/>
        </p:nvGraphicFramePr>
        <p:xfrm>
          <a:off x="822960" y="1965960"/>
          <a:ext cx="10543032" cy="3840480"/>
        </p:xfrm>
        <a:graphic>
          <a:graphicData uri="http://schemas.openxmlformats.org/drawingml/2006/table">
            <a:tbl>
              <a:tblPr firstRow="1" bandRow="1">
                <a:tableStyleId>{5C22544A-7EE6-4342-B048-85BDC9FD1C3A}</a:tableStyleId>
              </a:tblPr>
              <a:tblGrid>
                <a:gridCol w="2103120"/>
                <a:gridCol w="3840480"/>
                <a:gridCol w="4599432"/>
              </a:tblGrid>
              <a:tr h="640080">
                <a:tc>
                  <a:txBody>
                    <a:bodyPr wrap="square"/>
                    <a:lstStyle/>
                    <a:p>
                      <a:r>
                        <a:rPr sz="1200" b="1" spc="60">
                          <a:solidFill>
                            <a:srgbClr val="FBF9F5"/>
                          </a:solidFill>
                          <a:latin typeface="Arial"/>
                        </a:rPr>
                        <a:t>Layer</a:t>
                      </a:r>
                    </a:p>
                  </a:txBody>
                  <a:tcPr marL="109728" marR="91440" marT="54864" marB="54864" anchor="ctr">
                    <a:solidFill>
                      <a:srgbClr val="051A17"/>
                    </a:solidFill>
                  </a:tcPr>
                </a:tc>
                <a:tc>
                  <a:txBody>
                    <a:bodyPr wrap="square"/>
                    <a:lstStyle/>
                    <a:p>
                      <a:r>
                        <a:rPr sz="1200" b="1" spc="60">
                          <a:solidFill>
                            <a:srgbClr val="FBF9F5"/>
                          </a:solidFill>
                          <a:latin typeface="Arial"/>
                        </a:rPr>
                        <a:t>What we integrate</a:t>
                      </a:r>
                    </a:p>
                  </a:txBody>
                  <a:tcPr marL="109728" marR="91440" marT="54864" marB="54864" anchor="ctr">
                    <a:solidFill>
                      <a:srgbClr val="051A17"/>
                    </a:solidFill>
                  </a:tcPr>
                </a:tc>
                <a:tc>
                  <a:txBody>
                    <a:bodyPr wrap="square"/>
                    <a:lstStyle/>
                    <a:p>
                      <a:r>
                        <a:rPr sz="1200" b="1" spc="60">
                          <a:solidFill>
                            <a:srgbClr val="FBF9F5"/>
                          </a:solidFill>
                          <a:latin typeface="Arial"/>
                        </a:rPr>
                        <a:t>How Zelyo uses it</a:t>
                      </a:r>
                    </a:p>
                  </a:txBody>
                  <a:tcPr marL="109728" marR="91440" marT="54864" marB="54864" anchor="ctr">
                    <a:solidFill>
                      <a:srgbClr val="051A17"/>
                    </a:solidFill>
                  </a:tcPr>
                </a:tc>
              </a:tr>
              <a:tr h="640080">
                <a:tc>
                  <a:txBody>
                    <a:bodyPr wrap="square"/>
                    <a:lstStyle/>
                    <a:p>
                      <a:r>
                        <a:rPr sz="1150" b="1" spc="30">
                          <a:solidFill>
                            <a:srgbClr val="051A17"/>
                          </a:solidFill>
                          <a:latin typeface="Arial"/>
                        </a:rPr>
                        <a:t>SEPs</a:t>
                      </a:r>
                    </a:p>
                  </a:txBody>
                  <a:tcPr marL="109728" marR="91440" marT="54864" marB="54864" anchor="ctr">
                    <a:solidFill>
                      <a:srgbClr val="FBF9F5"/>
                    </a:solidFill>
                  </a:tcPr>
                </a:tc>
                <a:tc>
                  <a:txBody>
                    <a:bodyPr wrap="square"/>
                    <a:lstStyle/>
                    <a:p>
                      <a:r>
                        <a:rPr sz="1200">
                          <a:solidFill>
                            <a:srgbClr val="051A17"/>
                          </a:solidFill>
                          <a:latin typeface="Georgia"/>
                        </a:rPr>
                        <a:t>SEP-10 / SEP-45, SEP-12, SEP-8, SEP-38, SEP-7</a:t>
                      </a:r>
                    </a:p>
                  </a:txBody>
                  <a:tcPr marL="109728" marR="91440" marT="54864" marB="54864" anchor="ctr">
                    <a:solidFill>
                      <a:srgbClr val="FBF9F5"/>
                    </a:solidFill>
                  </a:tcPr>
                </a:tc>
                <a:tc>
                  <a:txBody>
                    <a:bodyPr wrap="square"/>
                    <a:lstStyle/>
                    <a:p>
                      <a:r>
                        <a:rPr sz="1200">
                          <a:solidFill>
                            <a:srgbClr val="051A17"/>
                          </a:solidFill>
                          <a:latin typeface="Georgia"/>
                        </a:rPr>
                        <a:t>Wallet &amp; smart-wallet auth; reusable-KYC API; regulated-asset gating; quotes; deep-link verify</a:t>
                      </a:r>
                    </a:p>
                  </a:txBody>
                  <a:tcPr marL="109728" marR="91440" marT="54864" marB="54864" anchor="ctr">
                    <a:solidFill>
                      <a:srgbClr val="FBF9F5"/>
                    </a:solidFill>
                  </a:tcPr>
                </a:tc>
              </a:tr>
              <a:tr h="640080">
                <a:tc>
                  <a:txBody>
                    <a:bodyPr wrap="square"/>
                    <a:lstStyle/>
                    <a:p>
                      <a:r>
                        <a:rPr sz="1150" b="1" spc="30">
                          <a:solidFill>
                            <a:srgbClr val="051A17"/>
                          </a:solidFill>
                          <a:latin typeface="Arial"/>
                        </a:rPr>
                        <a:t>Soroban host fns</a:t>
                      </a:r>
                    </a:p>
                  </a:txBody>
                  <a:tcPr marL="109728" marR="91440" marT="54864" marB="54864" anchor="ctr">
                    <a:solidFill>
                      <a:srgbClr val="EAE1D7"/>
                    </a:solidFill>
                  </a:tcPr>
                </a:tc>
                <a:tc>
                  <a:txBody>
                    <a:bodyPr wrap="square"/>
                    <a:lstStyle/>
                    <a:p>
                      <a:r>
                        <a:rPr sz="1200">
                          <a:solidFill>
                            <a:srgbClr val="051A17"/>
                          </a:solidFill>
                          <a:latin typeface="Georgia"/>
                        </a:rPr>
                        <a:t>BN254 + Poseidon (P25), BLS12-381 (P22)</a:t>
                      </a:r>
                    </a:p>
                  </a:txBody>
                  <a:tcPr marL="109728" marR="91440" marT="54864" marB="54864" anchor="ctr">
                    <a:solidFill>
                      <a:srgbClr val="EAE1D7"/>
                    </a:solidFill>
                  </a:tcPr>
                </a:tc>
                <a:tc>
                  <a:txBody>
                    <a:bodyPr wrap="square"/>
                    <a:lstStyle/>
                    <a:p>
                      <a:r>
                        <a:rPr sz="1200">
                          <a:solidFill>
                            <a:srgbClr val="051A17"/>
                          </a:solidFill>
                          <a:latin typeface="Georgia"/>
                        </a:rPr>
                        <a:t>Fully on-chain ZK proof verification + Merkle/nullifier recompute (Path A)</a:t>
                      </a:r>
                    </a:p>
                  </a:txBody>
                  <a:tcPr marL="109728" marR="91440" marT="54864" marB="54864" anchor="ctr">
                    <a:solidFill>
                      <a:srgbClr val="EAE1D7"/>
                    </a:solidFill>
                  </a:tcPr>
                </a:tc>
              </a:tr>
              <a:tr h="640080">
                <a:tc>
                  <a:txBody>
                    <a:bodyPr wrap="square"/>
                    <a:lstStyle/>
                    <a:p>
                      <a:r>
                        <a:rPr sz="1150" b="1" spc="30">
                          <a:solidFill>
                            <a:srgbClr val="051A17"/>
                          </a:solidFill>
                          <a:latin typeface="Arial"/>
                        </a:rPr>
                        <a:t>Anchors</a:t>
                      </a:r>
                    </a:p>
                  </a:txBody>
                  <a:tcPr marL="109728" marR="91440" marT="54864" marB="54864" anchor="ctr">
                    <a:solidFill>
                      <a:srgbClr val="FBF9F5"/>
                    </a:solidFill>
                  </a:tcPr>
                </a:tc>
                <a:tc>
                  <a:txBody>
                    <a:bodyPr wrap="square"/>
                    <a:lstStyle/>
                    <a:p>
                      <a:r>
                        <a:rPr sz="1200">
                          <a:solidFill>
                            <a:srgbClr val="051A17"/>
                          </a:solidFill>
                          <a:latin typeface="Georgia"/>
                        </a:rPr>
                        <a:t>Anchor Platform, USDC (Circle), MoneyGram / MGUSD</a:t>
                      </a:r>
                    </a:p>
                  </a:txBody>
                  <a:tcPr marL="109728" marR="91440" marT="54864" marB="54864" anchor="ctr">
                    <a:solidFill>
                      <a:srgbClr val="FBF9F5"/>
                    </a:solidFill>
                  </a:tcPr>
                </a:tc>
                <a:tc>
                  <a:txBody>
                    <a:bodyPr wrap="square"/>
                    <a:lstStyle/>
                    <a:p>
                      <a:r>
                        <a:rPr sz="1200">
                          <a:solidFill>
                            <a:srgbClr val="051A17"/>
                          </a:solidFill>
                          <a:latin typeface="Georgia"/>
                        </a:rPr>
                        <a:t>Reusable KYC for onboarding; fiat on/off-ramp for rewards</a:t>
                      </a:r>
                    </a:p>
                  </a:txBody>
                  <a:tcPr marL="109728" marR="91440" marT="54864" marB="54864" anchor="ctr">
                    <a:solidFill>
                      <a:srgbClr val="FBF9F5"/>
                    </a:solidFill>
                  </a:tcPr>
                </a:tc>
              </a:tr>
              <a:tr h="640080">
                <a:tc>
                  <a:txBody>
                    <a:bodyPr wrap="square"/>
                    <a:lstStyle/>
                    <a:p>
                      <a:r>
                        <a:rPr sz="1150" b="1" spc="30">
                          <a:solidFill>
                            <a:srgbClr val="051A17"/>
                          </a:solidFill>
                          <a:latin typeface="Arial"/>
                        </a:rPr>
                        <a:t>Wallets</a:t>
                      </a:r>
                    </a:p>
                  </a:txBody>
                  <a:tcPr marL="109728" marR="91440" marT="54864" marB="54864" anchor="ctr">
                    <a:solidFill>
                      <a:srgbClr val="EAE1D7"/>
                    </a:solidFill>
                  </a:tcPr>
                </a:tc>
                <a:tc>
                  <a:txBody>
                    <a:bodyPr wrap="square"/>
                    <a:lstStyle/>
                    <a:p>
                      <a:r>
                        <a:rPr sz="1200">
                          <a:solidFill>
                            <a:srgbClr val="051A17"/>
                          </a:solidFill>
                          <a:latin typeface="Georgia"/>
                        </a:rPr>
                        <a:t>passkey-kit smart wallets, Launchtube</a:t>
                      </a:r>
                    </a:p>
                  </a:txBody>
                  <a:tcPr marL="109728" marR="91440" marT="54864" marB="54864" anchor="ctr">
                    <a:solidFill>
                      <a:srgbClr val="EAE1D7"/>
                    </a:solidFill>
                  </a:tcPr>
                </a:tc>
                <a:tc>
                  <a:txBody>
                    <a:bodyPr wrap="square"/>
                    <a:lstStyle/>
                    <a:p>
                      <a:r>
                        <a:rPr sz="1200">
                          <a:solidFill>
                            <a:srgbClr val="051A17"/>
                          </a:solidFill>
                          <a:latin typeface="Georgia"/>
                        </a:rPr>
                        <a:t>Seed-free biometric holder keys; gasless (sponsored) claim/verify txns</a:t>
                      </a:r>
                    </a:p>
                  </a:txBody>
                  <a:tcPr marL="109728" marR="91440" marT="54864" marB="54864" anchor="ctr">
                    <a:solidFill>
                      <a:srgbClr val="EAE1D7"/>
                    </a:solidFill>
                  </a:tcPr>
                </a:tc>
              </a:tr>
              <a:tr h="640080">
                <a:tc>
                  <a:txBody>
                    <a:bodyPr wrap="square"/>
                    <a:lstStyle/>
                    <a:p>
                      <a:r>
                        <a:rPr sz="1150" b="1" spc="30">
                          <a:solidFill>
                            <a:srgbClr val="051A17"/>
                          </a:solidFill>
                          <a:latin typeface="Arial"/>
                        </a:rPr>
                        <a:t>DEX / DeFi</a:t>
                      </a:r>
                    </a:p>
                  </a:txBody>
                  <a:tcPr marL="109728" marR="91440" marT="54864" marB="54864" anchor="ctr">
                    <a:solidFill>
                      <a:srgbClr val="FBF9F5"/>
                    </a:solidFill>
                  </a:tcPr>
                </a:tc>
                <a:tc>
                  <a:txBody>
                    <a:bodyPr wrap="square"/>
                    <a:lstStyle/>
                    <a:p>
                      <a:r>
                        <a:rPr sz="1200">
                          <a:solidFill>
                            <a:srgbClr val="051A17"/>
                          </a:solidFill>
                          <a:latin typeface="Georgia"/>
                        </a:rPr>
                        <a:t>SDEX + path payments, Blend, Soroswap</a:t>
                      </a:r>
                    </a:p>
                  </a:txBody>
                  <a:tcPr marL="109728" marR="91440" marT="54864" marB="54864" anchor="ctr">
                    <a:solidFill>
                      <a:srgbClr val="FBF9F5"/>
                    </a:solidFill>
                  </a:tcPr>
                </a:tc>
                <a:tc>
                  <a:txBody>
                    <a:bodyPr wrap="square"/>
                    <a:lstStyle/>
                    <a:p>
                      <a:r>
                        <a:rPr sz="1200">
                          <a:solidFill>
                            <a:srgbClr val="051A17"/>
                          </a:solidFill>
                          <a:latin typeface="Georgia"/>
                        </a:rPr>
                        <a:t>Cross-asset reward delivery; verified-only pools &amp; token gates</a:t>
                      </a:r>
                    </a:p>
                  </a:txBody>
                  <a:tcPr marL="109728" marR="91440" marT="54864" marB="54864" anchor="ctr">
                    <a:solidFill>
                      <a:srgbClr val="FBF9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INTEGRATION ROADMAP</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Sequenced by impact × readiness</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08</a:t>
            </a:r>
          </a:p>
        </p:txBody>
      </p:sp>
      <p:sp>
        <p:nvSpPr>
          <p:cNvPr id="15" name="TextBox 14"/>
          <p:cNvSpPr txBox="1"/>
          <p:nvPr/>
        </p:nvSpPr>
        <p:spPr>
          <a:xfrm>
            <a:off x="822960" y="1737360"/>
            <a:ext cx="10424160" cy="4114800"/>
          </a:xfrm>
          <a:prstGeom prst="rect">
            <a:avLst/>
          </a:prstGeom>
          <a:noFill/>
        </p:spPr>
        <p:txBody>
          <a:bodyPr wrap="square" anchor="t" lIns="0" rIns="0" tIns="0" bIns="0">
            <a:spAutoFit/>
          </a:bodyPr>
          <a:lstStyle/>
          <a:p>
            <a:pPr algn="l">
              <a:lnSpc>
                <a:spcPct val="112000"/>
              </a:lnSpc>
              <a:spcBef>
                <a:spcPts val="0"/>
              </a:spcBef>
              <a:spcAft>
                <a:spcPts val="1200"/>
              </a:spcAft>
            </a:pPr>
            <a:r>
              <a:rPr sz="1700" b="0" i="0">
                <a:solidFill>
                  <a:srgbClr val="809792"/>
                </a:solidFill>
                <a:latin typeface="Georgia"/>
              </a:rPr>
              <a:t>—  </a:t>
            </a:r>
            <a:r>
              <a:rPr sz="1700" b="1" i="0">
                <a:solidFill>
                  <a:srgbClr val="051A17"/>
                </a:solidFill>
                <a:latin typeface="Georgia"/>
              </a:rPr>
              <a:t>1 · Ship Path A (on-chain ZK verify).  </a:t>
            </a:r>
            <a:r>
              <a:rPr sz="1700" b="0" i="0">
                <a:solidFill>
                  <a:srgbClr val="051A17"/>
                </a:solidFill>
                <a:latin typeface="Georgia"/>
              </a:rPr>
              <a:t>Use P25/P26 BN254 + Poseidon host functions. Converts our core differentiator from stubbed to real.</a:t>
            </a:r>
          </a:p>
          <a:p>
            <a:pPr algn="l">
              <a:lnSpc>
                <a:spcPct val="112000"/>
              </a:lnSpc>
              <a:spcBef>
                <a:spcPts val="0"/>
              </a:spcBef>
              <a:spcAft>
                <a:spcPts val="1200"/>
              </a:spcAft>
            </a:pPr>
            <a:r>
              <a:rPr sz="1700" b="0" i="0">
                <a:solidFill>
                  <a:srgbClr val="809792"/>
                </a:solidFill>
                <a:latin typeface="Georgia"/>
              </a:rPr>
              <a:t>—  </a:t>
            </a:r>
            <a:r>
              <a:rPr sz="1700" b="1" i="0">
                <a:solidFill>
                  <a:srgbClr val="051A17"/>
                </a:solidFill>
                <a:latin typeface="Georgia"/>
              </a:rPr>
              <a:t>2 · Reusable-KYC for anchors (SEP-12).  </a:t>
            </a:r>
            <a:r>
              <a:rPr sz="1700" b="0" i="0">
                <a:solidFill>
                  <a:srgbClr val="051A17"/>
                </a:solidFill>
                <a:latin typeface="Georgia"/>
              </a:rPr>
              <a:t>'Prove KYC once.' The largest B2B revenue wedge — anchors feel repeated-KYC cost acutely.</a:t>
            </a:r>
          </a:p>
          <a:p>
            <a:pPr algn="l">
              <a:lnSpc>
                <a:spcPct val="112000"/>
              </a:lnSpc>
              <a:spcBef>
                <a:spcPts val="0"/>
              </a:spcBef>
              <a:spcAft>
                <a:spcPts val="1200"/>
              </a:spcAft>
            </a:pPr>
            <a:r>
              <a:rPr sz="1700" b="0" i="0">
                <a:solidFill>
                  <a:srgbClr val="809792"/>
                </a:solidFill>
                <a:latin typeface="Georgia"/>
              </a:rPr>
              <a:t>—  </a:t>
            </a:r>
            <a:r>
              <a:rPr sz="1700" b="1" i="0">
                <a:solidFill>
                  <a:srgbClr val="051A17"/>
                </a:solidFill>
                <a:latin typeface="Georgia"/>
              </a:rPr>
              <a:t>3 · Passkey smart-wallet + SEP-45 + Launchtube.  </a:t>
            </a:r>
            <a:r>
              <a:rPr sz="1700" b="0" i="0">
                <a:solidFill>
                  <a:srgbClr val="051A17"/>
                </a:solidFill>
                <a:latin typeface="Georgia"/>
              </a:rPr>
              <a:t>Seed-free, gasless holder UX matching the in-browser proving flow.</a:t>
            </a:r>
          </a:p>
          <a:p>
            <a:pPr algn="l">
              <a:lnSpc>
                <a:spcPct val="112000"/>
              </a:lnSpc>
              <a:spcBef>
                <a:spcPts val="0"/>
              </a:spcBef>
              <a:spcAft>
                <a:spcPts val="1200"/>
              </a:spcAft>
            </a:pPr>
            <a:r>
              <a:rPr sz="1700" b="0" i="0">
                <a:solidFill>
                  <a:srgbClr val="809792"/>
                </a:solidFill>
                <a:latin typeface="Georgia"/>
              </a:rPr>
              <a:t>—  </a:t>
            </a:r>
            <a:r>
              <a:rPr sz="1700" b="1" i="0">
                <a:solidFill>
                  <a:srgbClr val="051A17"/>
                </a:solidFill>
                <a:latin typeface="Georgia"/>
              </a:rPr>
              <a:t>4 · SEP-8 token-gated rewards + DeFi composability.  </a:t>
            </a:r>
            <a:r>
              <a:rPr sz="1700" b="0" i="0">
                <a:solidFill>
                  <a:srgbClr val="051A17"/>
                </a:solidFill>
                <a:latin typeface="Georgia"/>
              </a:rPr>
              <a:t>Verified-only pools with Blend / Soroswap — the natural SCF Integration-track story.</a:t>
            </a:r>
          </a:p>
          <a:p>
            <a:pPr algn="l">
              <a:lnSpc>
                <a:spcPct val="112000"/>
              </a:lnSpc>
              <a:spcBef>
                <a:spcPts val="0"/>
              </a:spcBef>
              <a:spcAft>
                <a:spcPts val="1200"/>
              </a:spcAft>
            </a:pPr>
            <a:r>
              <a:rPr sz="1700" b="0" i="0">
                <a:solidFill>
                  <a:srgbClr val="809792"/>
                </a:solidFill>
                <a:latin typeface="Georgia"/>
              </a:rPr>
              <a:t>—  </a:t>
            </a:r>
            <a:r>
              <a:rPr sz="1700" b="1" i="0">
                <a:solidFill>
                  <a:srgbClr val="051A17"/>
                </a:solidFill>
                <a:latin typeface="Georgia"/>
              </a:rPr>
              <a:t>5 · Author a did:stellar / on-chain-VC SEP.  </a:t>
            </a:r>
            <a:r>
              <a:rPr sz="1700" b="0" i="0">
                <a:solidFill>
                  <a:srgbClr val="051A17"/>
                </a:solidFill>
                <a:latin typeface="Georgia"/>
              </a:rPr>
              <a:t>No incumbent standard exists — position Zelyo as the category's standards-setter.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MARKET</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One primitive, many markets</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09</a:t>
            </a:r>
          </a:p>
        </p:txBody>
      </p:sp>
      <p:sp>
        <p:nvSpPr>
          <p:cNvPr id="15" name="Rectangle 14"/>
          <p:cNvSpPr/>
          <p:nvPr/>
        </p:nvSpPr>
        <p:spPr>
          <a:xfrm>
            <a:off x="822960" y="2148840"/>
            <a:ext cx="3310128" cy="178308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2148840"/>
            <a:ext cx="27940" cy="1783080"/>
          </a:xfrm>
          <a:prstGeom prst="rect">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313432"/>
            <a:ext cx="2898648"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Education &amp; skills</a:t>
            </a:r>
          </a:p>
        </p:txBody>
      </p:sp>
      <p:sp>
        <p:nvSpPr>
          <p:cNvPr id="18" name="TextBox 17"/>
          <p:cNvSpPr txBox="1"/>
          <p:nvPr/>
        </p:nvSpPr>
        <p:spPr>
          <a:xfrm>
            <a:off x="1051560" y="2715768"/>
            <a:ext cx="2898648" cy="114300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Bootcamps, universities, TESDA-style certifiers issue tamper-proof, privately-provable credentials.</a:t>
            </a:r>
          </a:p>
        </p:txBody>
      </p:sp>
      <p:sp>
        <p:nvSpPr>
          <p:cNvPr id="19" name="Rectangle 18"/>
          <p:cNvSpPr/>
          <p:nvPr/>
        </p:nvSpPr>
        <p:spPr>
          <a:xfrm>
            <a:off x="4343400" y="2148840"/>
            <a:ext cx="3310128" cy="178308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43400" y="2148840"/>
            <a:ext cx="27940" cy="1783080"/>
          </a:xfrm>
          <a:prstGeom prst="rect">
            <a:avLst/>
          </a:prstGeom>
          <a:solidFill>
            <a:srgbClr val="1A2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2313432"/>
            <a:ext cx="2898648"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Reusable KYC</a:t>
            </a:r>
          </a:p>
        </p:txBody>
      </p:sp>
      <p:sp>
        <p:nvSpPr>
          <p:cNvPr id="22" name="TextBox 21"/>
          <p:cNvSpPr txBox="1"/>
          <p:nvPr/>
        </p:nvSpPr>
        <p:spPr>
          <a:xfrm>
            <a:off x="4572000" y="2715768"/>
            <a:ext cx="2898648" cy="114300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Anchors, exchanges &amp; fintechs reuse a single verified attestation — lower cost, less PII risk.</a:t>
            </a:r>
          </a:p>
        </p:txBody>
      </p:sp>
      <p:sp>
        <p:nvSpPr>
          <p:cNvPr id="23" name="Rectangle 22"/>
          <p:cNvSpPr/>
          <p:nvPr/>
        </p:nvSpPr>
        <p:spPr>
          <a:xfrm>
            <a:off x="7863840" y="2148840"/>
            <a:ext cx="3310128" cy="178308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63840" y="2148840"/>
            <a:ext cx="27940" cy="1783080"/>
          </a:xfrm>
          <a:prstGeom prst="rect">
            <a:avLst/>
          </a:prstGeom>
          <a:solidFill>
            <a:srgbClr val="635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2313432"/>
            <a:ext cx="2898648"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Airdrop / reward gating</a:t>
            </a:r>
          </a:p>
        </p:txBody>
      </p:sp>
      <p:sp>
        <p:nvSpPr>
          <p:cNvPr id="26" name="TextBox 25"/>
          <p:cNvSpPr txBox="1"/>
          <p:nvPr/>
        </p:nvSpPr>
        <p:spPr>
          <a:xfrm>
            <a:off x="8092440" y="2715768"/>
            <a:ext cx="2898648" cy="114300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Web3 campaigns prove one-real-person eligibility without collecting identity.</a:t>
            </a:r>
          </a:p>
        </p:txBody>
      </p:sp>
      <p:sp>
        <p:nvSpPr>
          <p:cNvPr id="27" name="Rectangle 26"/>
          <p:cNvSpPr/>
          <p:nvPr/>
        </p:nvSpPr>
        <p:spPr>
          <a:xfrm>
            <a:off x="822960" y="4133088"/>
            <a:ext cx="3310128" cy="178308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 y="4133088"/>
            <a:ext cx="27940" cy="1783080"/>
          </a:xfrm>
          <a:prstGeom prst="rect">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297680"/>
            <a:ext cx="2898648"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Hiring &amp; marketplaces</a:t>
            </a:r>
          </a:p>
        </p:txBody>
      </p:sp>
      <p:sp>
        <p:nvSpPr>
          <p:cNvPr id="30" name="TextBox 29"/>
          <p:cNvSpPr txBox="1"/>
          <p:nvPr/>
        </p:nvSpPr>
        <p:spPr>
          <a:xfrm>
            <a:off x="1051560" y="4700016"/>
            <a:ext cx="2898648" cy="114300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Employers &amp; gig platforms verify qualifications with zero PII liability.</a:t>
            </a:r>
          </a:p>
        </p:txBody>
      </p:sp>
      <p:sp>
        <p:nvSpPr>
          <p:cNvPr id="31" name="Rectangle 30"/>
          <p:cNvSpPr/>
          <p:nvPr/>
        </p:nvSpPr>
        <p:spPr>
          <a:xfrm>
            <a:off x="4343400" y="4133088"/>
            <a:ext cx="3310128" cy="178308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43400" y="4133088"/>
            <a:ext cx="27940" cy="1783080"/>
          </a:xfrm>
          <a:prstGeom prst="rect">
            <a:avLst/>
          </a:prstGeom>
          <a:solidFill>
            <a:srgbClr val="1A2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0" y="4297680"/>
            <a:ext cx="2898648"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DAO / DeFi eligibility</a:t>
            </a:r>
          </a:p>
        </p:txBody>
      </p:sp>
      <p:sp>
        <p:nvSpPr>
          <p:cNvPr id="34" name="TextBox 33"/>
          <p:cNvSpPr txBox="1"/>
          <p:nvPr/>
        </p:nvSpPr>
        <p:spPr>
          <a:xfrm>
            <a:off x="4572000" y="4700016"/>
            <a:ext cx="2898648" cy="114300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Governance and pools check attributes (jurisdiction, accreditation) privately.</a:t>
            </a:r>
          </a:p>
        </p:txBody>
      </p:sp>
      <p:sp>
        <p:nvSpPr>
          <p:cNvPr id="35" name="Rectangle 34"/>
          <p:cNvSpPr/>
          <p:nvPr/>
        </p:nvSpPr>
        <p:spPr>
          <a:xfrm>
            <a:off x="7863840" y="4133088"/>
            <a:ext cx="3310128" cy="178308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63840" y="4133088"/>
            <a:ext cx="27940" cy="1783080"/>
          </a:xfrm>
          <a:prstGeom prst="rect">
            <a:avLst/>
          </a:prstGeom>
          <a:solidFill>
            <a:srgbClr val="635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92440" y="4297680"/>
            <a:ext cx="2898648"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Regulatory tailwind</a:t>
            </a:r>
          </a:p>
        </p:txBody>
      </p:sp>
      <p:sp>
        <p:nvSpPr>
          <p:cNvPr id="38" name="TextBox 37"/>
          <p:cNvSpPr txBox="1"/>
          <p:nvPr/>
        </p:nvSpPr>
        <p:spPr>
          <a:xfrm>
            <a:off x="8092440" y="4700016"/>
            <a:ext cx="2898648" cy="114300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EU eIDAS 2 wallets (through 2026) mandate selective-disclosure ZK credentials — our exact capability.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GO-TO-MARKET</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Beachhead → region → world</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10</a:t>
            </a:r>
          </a:p>
        </p:txBody>
      </p:sp>
      <p:sp>
        <p:nvSpPr>
          <p:cNvPr id="15" name="Rectangle 14"/>
          <p:cNvSpPr/>
          <p:nvPr/>
        </p:nvSpPr>
        <p:spPr>
          <a:xfrm>
            <a:off x="822960" y="2057400"/>
            <a:ext cx="3401568" cy="370332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2057400"/>
            <a:ext cx="3401568" cy="658368"/>
          </a:xfrm>
          <a:prstGeom prst="rect">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157984"/>
            <a:ext cx="3035808" cy="365760"/>
          </a:xfrm>
          <a:prstGeom prst="rect">
            <a:avLst/>
          </a:prstGeom>
          <a:noFill/>
        </p:spPr>
        <p:txBody>
          <a:bodyPr wrap="square" anchor="t" lIns="0" rIns="0" tIns="0" bIns="0">
            <a:spAutoFit/>
          </a:bodyPr>
          <a:lstStyle/>
          <a:p>
            <a:pPr algn="l">
              <a:lnSpc>
                <a:spcPct val="100000"/>
              </a:lnSpc>
              <a:spcBef>
                <a:spcPts val="0"/>
              </a:spcBef>
              <a:spcAft>
                <a:spcPts val="600"/>
              </a:spcAft>
            </a:pPr>
            <a:r>
              <a:rPr sz="1500" b="1" i="0" spc="100">
                <a:solidFill>
                  <a:srgbClr val="FBF9F5"/>
                </a:solidFill>
                <a:latin typeface="Arial"/>
              </a:rPr>
              <a:t>PHILIPPINES</a:t>
            </a:r>
          </a:p>
        </p:txBody>
      </p:sp>
      <p:sp>
        <p:nvSpPr>
          <p:cNvPr id="18" name="TextBox 17"/>
          <p:cNvSpPr txBox="1"/>
          <p:nvPr/>
        </p:nvSpPr>
        <p:spPr>
          <a:xfrm>
            <a:off x="1024128" y="2459736"/>
            <a:ext cx="3035808" cy="274320"/>
          </a:xfrm>
          <a:prstGeom prst="rect">
            <a:avLst/>
          </a:prstGeom>
          <a:noFill/>
        </p:spPr>
        <p:txBody>
          <a:bodyPr wrap="square" anchor="t" lIns="0" rIns="0" tIns="0" bIns="0">
            <a:spAutoFit/>
          </a:bodyPr>
          <a:lstStyle/>
          <a:p>
            <a:pPr algn="l">
              <a:lnSpc>
                <a:spcPct val="100000"/>
              </a:lnSpc>
              <a:spcBef>
                <a:spcPts val="0"/>
              </a:spcBef>
              <a:spcAft>
                <a:spcPts val="600"/>
              </a:spcAft>
            </a:pPr>
            <a:r>
              <a:rPr sz="1200" b="0" i="1">
                <a:solidFill>
                  <a:srgbClr val="D0E8E1"/>
                </a:solidFill>
                <a:latin typeface="Georgia"/>
              </a:rPr>
              <a:t>Beachhead</a:t>
            </a:r>
          </a:p>
        </p:txBody>
      </p:sp>
      <p:sp>
        <p:nvSpPr>
          <p:cNvPr id="19" name="TextBox 18"/>
          <p:cNvSpPr txBox="1"/>
          <p:nvPr/>
        </p:nvSpPr>
        <p:spPr>
          <a:xfrm>
            <a:off x="1024128" y="2926080"/>
            <a:ext cx="3017520" cy="2743200"/>
          </a:xfrm>
          <a:prstGeom prst="rect">
            <a:avLst/>
          </a:prstGeom>
          <a:noFill/>
        </p:spPr>
        <p:txBody>
          <a:bodyPr wrap="square" anchor="t" lIns="0" rIns="0" tIns="0" bIns="0">
            <a:spAutoFit/>
          </a:bodyPr>
          <a:lstStyle/>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OFW remittance corridor: reusable KYC with MoneyGram / anchors</a:t>
            </a:r>
          </a:p>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Bootcamps &amp; TESDA-style certifiers as first credential issuers</a:t>
            </a:r>
          </a:p>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Freelancer economy proving skills to global clients</a:t>
            </a:r>
          </a:p>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Align with BSP eKYC reuse &amp; digital-ID momentum</a:t>
            </a:r>
          </a:p>
        </p:txBody>
      </p:sp>
      <p:sp>
        <p:nvSpPr>
          <p:cNvPr id="20" name="Rectangle 19"/>
          <p:cNvSpPr/>
          <p:nvPr/>
        </p:nvSpPr>
        <p:spPr>
          <a:xfrm>
            <a:off x="4398264" y="2057400"/>
            <a:ext cx="3401568" cy="370332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98264" y="2057400"/>
            <a:ext cx="3401568" cy="658368"/>
          </a:xfrm>
          <a:prstGeom prst="rect">
            <a:avLst/>
          </a:prstGeom>
          <a:solidFill>
            <a:srgbClr val="1A2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2" y="2157984"/>
            <a:ext cx="3035808" cy="365760"/>
          </a:xfrm>
          <a:prstGeom prst="rect">
            <a:avLst/>
          </a:prstGeom>
          <a:noFill/>
        </p:spPr>
        <p:txBody>
          <a:bodyPr wrap="square" anchor="t" lIns="0" rIns="0" tIns="0" bIns="0">
            <a:spAutoFit/>
          </a:bodyPr>
          <a:lstStyle/>
          <a:p>
            <a:pPr algn="l">
              <a:lnSpc>
                <a:spcPct val="100000"/>
              </a:lnSpc>
              <a:spcBef>
                <a:spcPts val="0"/>
              </a:spcBef>
              <a:spcAft>
                <a:spcPts val="600"/>
              </a:spcAft>
            </a:pPr>
            <a:r>
              <a:rPr sz="1500" b="1" i="0" spc="100">
                <a:solidFill>
                  <a:srgbClr val="FBF9F5"/>
                </a:solidFill>
                <a:latin typeface="Arial"/>
              </a:rPr>
              <a:t>APAC</a:t>
            </a:r>
          </a:p>
        </p:txBody>
      </p:sp>
      <p:sp>
        <p:nvSpPr>
          <p:cNvPr id="23" name="TextBox 22"/>
          <p:cNvSpPr txBox="1"/>
          <p:nvPr/>
        </p:nvSpPr>
        <p:spPr>
          <a:xfrm>
            <a:off x="4599432" y="2459736"/>
            <a:ext cx="3035808" cy="274320"/>
          </a:xfrm>
          <a:prstGeom prst="rect">
            <a:avLst/>
          </a:prstGeom>
          <a:noFill/>
        </p:spPr>
        <p:txBody>
          <a:bodyPr wrap="square" anchor="t" lIns="0" rIns="0" tIns="0" bIns="0">
            <a:spAutoFit/>
          </a:bodyPr>
          <a:lstStyle/>
          <a:p>
            <a:pPr algn="l">
              <a:lnSpc>
                <a:spcPct val="100000"/>
              </a:lnSpc>
              <a:spcBef>
                <a:spcPts val="0"/>
              </a:spcBef>
              <a:spcAft>
                <a:spcPts val="600"/>
              </a:spcAft>
            </a:pPr>
            <a:r>
              <a:rPr sz="1200" b="0" i="1">
                <a:solidFill>
                  <a:srgbClr val="D0E8E1"/>
                </a:solidFill>
                <a:latin typeface="Georgia"/>
              </a:rPr>
              <a:t>Expansion</a:t>
            </a:r>
          </a:p>
        </p:txBody>
      </p:sp>
      <p:sp>
        <p:nvSpPr>
          <p:cNvPr id="24" name="TextBox 23"/>
          <p:cNvSpPr txBox="1"/>
          <p:nvPr/>
        </p:nvSpPr>
        <p:spPr>
          <a:xfrm>
            <a:off x="4599432" y="2926080"/>
            <a:ext cx="3017520" cy="2743200"/>
          </a:xfrm>
          <a:prstGeom prst="rect">
            <a:avLst/>
          </a:prstGeom>
          <a:noFill/>
        </p:spPr>
        <p:txBody>
          <a:bodyPr wrap="square" anchor="t" lIns="0" rIns="0" tIns="0" bIns="0">
            <a:spAutoFit/>
          </a:bodyPr>
          <a:lstStyle/>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SEA remittance &amp; migrant-worker credential corridors</a:t>
            </a:r>
          </a:p>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Cross-border skills verification (PH → SG/JP/AU/ME)</a:t>
            </a:r>
          </a:p>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Anchor &amp; wallet partnerships across the region</a:t>
            </a:r>
          </a:p>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Localised issuer onboarding + language support</a:t>
            </a:r>
          </a:p>
        </p:txBody>
      </p:sp>
      <p:sp>
        <p:nvSpPr>
          <p:cNvPr id="25" name="Rectangle 24"/>
          <p:cNvSpPr/>
          <p:nvPr/>
        </p:nvSpPr>
        <p:spPr>
          <a:xfrm>
            <a:off x="7973568" y="2057400"/>
            <a:ext cx="3401568" cy="370332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973568" y="2057400"/>
            <a:ext cx="3401568" cy="658368"/>
          </a:xfrm>
          <a:prstGeom prst="rect">
            <a:avLst/>
          </a:prstGeom>
          <a:solidFill>
            <a:srgbClr val="635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74736" y="2157984"/>
            <a:ext cx="3035808" cy="365760"/>
          </a:xfrm>
          <a:prstGeom prst="rect">
            <a:avLst/>
          </a:prstGeom>
          <a:noFill/>
        </p:spPr>
        <p:txBody>
          <a:bodyPr wrap="square" anchor="t" lIns="0" rIns="0" tIns="0" bIns="0">
            <a:spAutoFit/>
          </a:bodyPr>
          <a:lstStyle/>
          <a:p>
            <a:pPr algn="l">
              <a:lnSpc>
                <a:spcPct val="100000"/>
              </a:lnSpc>
              <a:spcBef>
                <a:spcPts val="0"/>
              </a:spcBef>
              <a:spcAft>
                <a:spcPts val="600"/>
              </a:spcAft>
            </a:pPr>
            <a:r>
              <a:rPr sz="1500" b="1" i="0" spc="100">
                <a:solidFill>
                  <a:srgbClr val="FBF9F5"/>
                </a:solidFill>
                <a:latin typeface="Arial"/>
              </a:rPr>
              <a:t>GLOBAL</a:t>
            </a:r>
          </a:p>
        </p:txBody>
      </p:sp>
      <p:sp>
        <p:nvSpPr>
          <p:cNvPr id="28" name="TextBox 27"/>
          <p:cNvSpPr txBox="1"/>
          <p:nvPr/>
        </p:nvSpPr>
        <p:spPr>
          <a:xfrm>
            <a:off x="8174736" y="2459736"/>
            <a:ext cx="3035808" cy="274320"/>
          </a:xfrm>
          <a:prstGeom prst="rect">
            <a:avLst/>
          </a:prstGeom>
          <a:noFill/>
        </p:spPr>
        <p:txBody>
          <a:bodyPr wrap="square" anchor="t" lIns="0" rIns="0" tIns="0" bIns="0">
            <a:spAutoFit/>
          </a:bodyPr>
          <a:lstStyle/>
          <a:p>
            <a:pPr algn="l">
              <a:lnSpc>
                <a:spcPct val="100000"/>
              </a:lnSpc>
              <a:spcBef>
                <a:spcPts val="0"/>
              </a:spcBef>
              <a:spcAft>
                <a:spcPts val="600"/>
              </a:spcAft>
            </a:pPr>
            <a:r>
              <a:rPr sz="1200" b="0" i="1">
                <a:solidFill>
                  <a:srgbClr val="D0E8E1"/>
                </a:solidFill>
                <a:latin typeface="Georgia"/>
              </a:rPr>
              <a:t>Scale</a:t>
            </a:r>
          </a:p>
        </p:txBody>
      </p:sp>
      <p:sp>
        <p:nvSpPr>
          <p:cNvPr id="29" name="TextBox 28"/>
          <p:cNvSpPr txBox="1"/>
          <p:nvPr/>
        </p:nvSpPr>
        <p:spPr>
          <a:xfrm>
            <a:off x="8174736" y="2926080"/>
            <a:ext cx="3017520" cy="2743200"/>
          </a:xfrm>
          <a:prstGeom prst="rect">
            <a:avLst/>
          </a:prstGeom>
          <a:noFill/>
        </p:spPr>
        <p:txBody>
          <a:bodyPr wrap="square" anchor="t" lIns="0" rIns="0" tIns="0" bIns="0">
            <a:spAutoFit/>
          </a:bodyPr>
          <a:lstStyle/>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Reusable-KYC standard for anchors &amp; exchanges worldwide</a:t>
            </a:r>
          </a:p>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Ride EU eIDAS 2 selective-disclosure mandate</a:t>
            </a:r>
          </a:p>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Author did:stellar / VC SEP — be the standard</a:t>
            </a:r>
          </a:p>
          <a:p>
            <a:pPr algn="l">
              <a:lnSpc>
                <a:spcPct val="110000"/>
              </a:lnSpc>
              <a:spcBef>
                <a:spcPts val="0"/>
              </a:spcBef>
              <a:spcAft>
                <a:spcPts val="1100"/>
              </a:spcAft>
            </a:pPr>
            <a:r>
              <a:rPr sz="1300" b="0" i="0">
                <a:solidFill>
                  <a:srgbClr val="809792"/>
                </a:solidFill>
                <a:latin typeface="Georgia"/>
              </a:rPr>
              <a:t>—  </a:t>
            </a:r>
            <a:r>
              <a:rPr sz="1300" b="0" i="0">
                <a:solidFill>
                  <a:srgbClr val="051A17"/>
                </a:solidFill>
                <a:latin typeface="Georgia"/>
              </a:rPr>
              <a:t>Developer platform: SDKs, gates &amp; reward templates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BUSINESS MODEL</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How Zelyo makes money</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11</a:t>
            </a:r>
          </a:p>
        </p:txBody>
      </p:sp>
      <p:sp>
        <p:nvSpPr>
          <p:cNvPr id="15" name="Rectangle 14"/>
          <p:cNvSpPr/>
          <p:nvPr/>
        </p:nvSpPr>
        <p:spPr>
          <a:xfrm>
            <a:off x="822960" y="2148840"/>
            <a:ext cx="5120640" cy="1572768"/>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2148840"/>
            <a:ext cx="27940" cy="1572768"/>
          </a:xfrm>
          <a:prstGeom prst="rect">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313432"/>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Issuer SaaS</a:t>
            </a:r>
          </a:p>
        </p:txBody>
      </p:sp>
      <p:sp>
        <p:nvSpPr>
          <p:cNvPr id="18" name="TextBox 17"/>
          <p:cNvSpPr txBox="1"/>
          <p:nvPr/>
        </p:nvSpPr>
        <p:spPr>
          <a:xfrm>
            <a:off x="1051560" y="2715768"/>
            <a:ext cx="4709160" cy="932688"/>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Subscription for institutions to mint &amp; manage credentials (seats, volume, branded portals).</a:t>
            </a:r>
          </a:p>
        </p:txBody>
      </p:sp>
      <p:sp>
        <p:nvSpPr>
          <p:cNvPr id="19" name="Rectangle 18"/>
          <p:cNvSpPr/>
          <p:nvPr/>
        </p:nvSpPr>
        <p:spPr>
          <a:xfrm>
            <a:off x="6126480" y="2148840"/>
            <a:ext cx="5120640" cy="1572768"/>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2148840"/>
            <a:ext cx="27940" cy="1572768"/>
          </a:xfrm>
          <a:prstGeom prst="rect">
            <a:avLst/>
          </a:prstGeom>
          <a:solidFill>
            <a:srgbClr val="1A2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2313432"/>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Reusable-KYC B2B</a:t>
            </a:r>
          </a:p>
        </p:txBody>
      </p:sp>
      <p:sp>
        <p:nvSpPr>
          <p:cNvPr id="22" name="TextBox 21"/>
          <p:cNvSpPr txBox="1"/>
          <p:nvPr/>
        </p:nvSpPr>
        <p:spPr>
          <a:xfrm>
            <a:off x="6355080" y="2715768"/>
            <a:ext cx="4709160" cy="932688"/>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Per-verification / per-seat fees from anchors &amp; fintechs reusing attestations instead of re-KYC'ing.</a:t>
            </a:r>
          </a:p>
        </p:txBody>
      </p:sp>
      <p:sp>
        <p:nvSpPr>
          <p:cNvPr id="23" name="Rectangle 22"/>
          <p:cNvSpPr/>
          <p:nvPr/>
        </p:nvSpPr>
        <p:spPr>
          <a:xfrm>
            <a:off x="822960" y="3922776"/>
            <a:ext cx="5120640" cy="1572768"/>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3922776"/>
            <a:ext cx="27940" cy="1572768"/>
          </a:xfrm>
          <a:prstGeom prst="rect">
            <a:avLst/>
          </a:prstGeom>
          <a:solidFill>
            <a:srgbClr val="635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087368"/>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Gate &amp; campaign fees</a:t>
            </a:r>
          </a:p>
        </p:txBody>
      </p:sp>
      <p:sp>
        <p:nvSpPr>
          <p:cNvPr id="26" name="TextBox 25"/>
          <p:cNvSpPr txBox="1"/>
          <p:nvPr/>
        </p:nvSpPr>
        <p:spPr>
          <a:xfrm>
            <a:off x="1051560" y="4489704"/>
            <a:ext cx="4709160" cy="932688"/>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Take-rate on gated rewards, airdrop campaigns, and premium verifier features.</a:t>
            </a:r>
          </a:p>
        </p:txBody>
      </p:sp>
      <p:sp>
        <p:nvSpPr>
          <p:cNvPr id="27" name="Rectangle 26"/>
          <p:cNvSpPr/>
          <p:nvPr/>
        </p:nvSpPr>
        <p:spPr>
          <a:xfrm>
            <a:off x="6126480" y="3922776"/>
            <a:ext cx="5120640" cy="1572768"/>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3922776"/>
            <a:ext cx="27940" cy="1572768"/>
          </a:xfrm>
          <a:prstGeom prst="rect">
            <a:avLst/>
          </a:prstGeom>
          <a:solidFill>
            <a:srgbClr val="2512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4087368"/>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Grants &amp; ecosystem</a:t>
            </a:r>
          </a:p>
        </p:txBody>
      </p:sp>
      <p:sp>
        <p:nvSpPr>
          <p:cNvPr id="30" name="TextBox 29"/>
          <p:cNvSpPr txBox="1"/>
          <p:nvPr/>
        </p:nvSpPr>
        <p:spPr>
          <a:xfrm>
            <a:off x="6355080" y="4489704"/>
            <a:ext cx="4709160" cy="932688"/>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SCF Build Award (up to $150K) + SDF partnerships fund early product while B2B revenue ramps.</a:t>
            </a:r>
          </a:p>
        </p:txBody>
      </p:sp>
      <p:sp>
        <p:nvSpPr>
          <p:cNvPr id="31" name="TextBox 30"/>
          <p:cNvSpPr txBox="1"/>
          <p:nvPr/>
        </p:nvSpPr>
        <p:spPr>
          <a:xfrm>
            <a:off x="822960" y="5623560"/>
            <a:ext cx="10424160" cy="548640"/>
          </a:xfrm>
          <a:prstGeom prst="rect">
            <a:avLst/>
          </a:prstGeom>
          <a:noFill/>
        </p:spPr>
        <p:txBody>
          <a:bodyPr wrap="square" anchor="t" lIns="0" rIns="0" tIns="0" bIns="0">
            <a:spAutoFit/>
          </a:bodyPr>
          <a:lstStyle/>
          <a:p>
            <a:pPr algn="l">
              <a:lnSpc>
                <a:spcPct val="120000"/>
              </a:lnSpc>
              <a:spcBef>
                <a:spcPts val="0"/>
              </a:spcBef>
              <a:spcAft>
                <a:spcPts val="600"/>
              </a:spcAft>
            </a:pPr>
            <a:r>
              <a:rPr sz="1450" b="0" i="1">
                <a:solidFill>
                  <a:srgbClr val="635E56"/>
                </a:solidFill>
                <a:latin typeface="Georgia"/>
              </a:rPr>
              <a:t>Wedge = credential issuance (PH). Engine = reusable-KYC for anchors (APAC/Global). Moat = the shared standard &amp; nullifier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COMPETITION</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An early, open category</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12</a:t>
            </a:r>
          </a:p>
        </p:txBody>
      </p:sp>
      <p:sp>
        <p:nvSpPr>
          <p:cNvPr id="15" name="TextBox 14"/>
          <p:cNvSpPr txBox="1"/>
          <p:nvPr/>
        </p:nvSpPr>
        <p:spPr>
          <a:xfrm>
            <a:off x="822960" y="1737360"/>
            <a:ext cx="10424160" cy="4114800"/>
          </a:xfrm>
          <a:prstGeom prst="rect">
            <a:avLst/>
          </a:prstGeom>
          <a:noFill/>
        </p:spPr>
        <p:txBody>
          <a:bodyPr wrap="square" anchor="t" lIns="0" rIns="0" tIns="0" bIns="0">
            <a:spAutoFit/>
          </a:bodyPr>
          <a:lstStyle/>
          <a:p>
            <a:pPr algn="l">
              <a:lnSpc>
                <a:spcPct val="112000"/>
              </a:lnSpc>
              <a:spcBef>
                <a:spcPts val="0"/>
              </a:spcBef>
              <a:spcAft>
                <a:spcPts val="1400"/>
              </a:spcAft>
            </a:pPr>
            <a:r>
              <a:rPr sz="1750" b="0" i="0">
                <a:solidFill>
                  <a:srgbClr val="809792"/>
                </a:solidFill>
                <a:latin typeface="Georgia"/>
              </a:rPr>
              <a:t>—  </a:t>
            </a:r>
            <a:r>
              <a:rPr sz="1750" b="1" i="0">
                <a:solidFill>
                  <a:srgbClr val="051A17"/>
                </a:solidFill>
                <a:latin typeface="Georgia"/>
              </a:rPr>
              <a:t>Luminar — closest competitor.  </a:t>
            </a:r>
            <a:r>
              <a:rPr sz="1750" b="0" i="0">
                <a:solidFill>
                  <a:srgbClr val="051A17"/>
                </a:solidFill>
                <a:latin typeface="Georgia"/>
              </a:rPr>
              <a:t>Client-side ZK proof of KYC → a soulbound token; Poseidon2 nullifiers. Strong, but a single KYC badge.</a:t>
            </a:r>
          </a:p>
          <a:p>
            <a:pPr algn="l">
              <a:lnSpc>
                <a:spcPct val="112000"/>
              </a:lnSpc>
              <a:spcBef>
                <a:spcPts val="0"/>
              </a:spcBef>
              <a:spcAft>
                <a:spcPts val="1400"/>
              </a:spcAft>
            </a:pPr>
            <a:r>
              <a:rPr sz="1750" b="0" i="0">
                <a:solidFill>
                  <a:srgbClr val="809792"/>
                </a:solidFill>
                <a:latin typeface="Georgia"/>
              </a:rPr>
              <a:t>—  </a:t>
            </a:r>
            <a:r>
              <a:rPr sz="1750" b="1" i="0">
                <a:solidFill>
                  <a:srgbClr val="051A17"/>
                </a:solidFill>
                <a:latin typeface="Georgia"/>
              </a:rPr>
              <a:t>Zelyo's edge #1: arbitrary selective disclosure.  </a:t>
            </a:r>
            <a:r>
              <a:rPr sz="1750" b="0" i="0">
                <a:solidFill>
                  <a:srgbClr val="051A17"/>
                </a:solidFill>
                <a:latin typeface="Georgia"/>
              </a:rPr>
              <a:t>Prove any attribute from a Merkle-leaf credential — not just one fixed KYC flag.</a:t>
            </a:r>
          </a:p>
          <a:p>
            <a:pPr algn="l">
              <a:lnSpc>
                <a:spcPct val="112000"/>
              </a:lnSpc>
              <a:spcBef>
                <a:spcPts val="0"/>
              </a:spcBef>
              <a:spcAft>
                <a:spcPts val="1400"/>
              </a:spcAft>
            </a:pPr>
            <a:r>
              <a:rPr sz="1750" b="0" i="0">
                <a:solidFill>
                  <a:srgbClr val="809792"/>
                </a:solidFill>
                <a:latin typeface="Georgia"/>
              </a:rPr>
              <a:t>—  </a:t>
            </a:r>
            <a:r>
              <a:rPr sz="1750" b="1" i="0">
                <a:solidFill>
                  <a:srgbClr val="051A17"/>
                </a:solidFill>
                <a:latin typeface="Georgia"/>
              </a:rPr>
              <a:t>Zelyo's edge #2: the reward loop.  </a:t>
            </a:r>
            <a:r>
              <a:rPr sz="1750" b="0" i="0">
                <a:solidFill>
                  <a:srgbClr val="051A17"/>
                </a:solidFill>
                <a:latin typeface="Georgia"/>
              </a:rPr>
              <a:t>Built-in issuer portal, job gates and Stellar-native rewards — a full lifecycle, not just an attestation.</a:t>
            </a:r>
          </a:p>
          <a:p>
            <a:pPr algn="l">
              <a:lnSpc>
                <a:spcPct val="112000"/>
              </a:lnSpc>
              <a:spcBef>
                <a:spcPts val="0"/>
              </a:spcBef>
              <a:spcAft>
                <a:spcPts val="1400"/>
              </a:spcAft>
            </a:pPr>
            <a:r>
              <a:rPr sz="1750" b="0" i="0">
                <a:solidFill>
                  <a:srgbClr val="809792"/>
                </a:solidFill>
                <a:latin typeface="Georgia"/>
              </a:rPr>
              <a:t>—  </a:t>
            </a:r>
            <a:r>
              <a:rPr sz="1750" b="1" i="0">
                <a:solidFill>
                  <a:srgbClr val="051A17"/>
                </a:solidFill>
                <a:latin typeface="Georgia"/>
              </a:rPr>
              <a:t>No DID/VC incumbent on Stellar.  </a:t>
            </a:r>
            <a:r>
              <a:rPr sz="1750" b="0" i="0">
                <a:solidFill>
                  <a:srgbClr val="051A17"/>
                </a:solidFill>
                <a:latin typeface="Georgia"/>
              </a:rPr>
              <a:t>There's no ratified standard yet — first credible mover can define it.</a:t>
            </a:r>
          </a:p>
        </p:txBody>
      </p:sp>
      <p:sp>
        <p:nvSpPr>
          <p:cNvPr id="16" name="TextBox 15"/>
          <p:cNvSpPr txBox="1"/>
          <p:nvPr/>
        </p:nvSpPr>
        <p:spPr>
          <a:xfrm>
            <a:off x="822960" y="5440680"/>
            <a:ext cx="10424160" cy="548640"/>
          </a:xfrm>
          <a:prstGeom prst="rect">
            <a:avLst/>
          </a:prstGeom>
          <a:noFill/>
        </p:spPr>
        <p:txBody>
          <a:bodyPr wrap="square" anchor="t" lIns="0" rIns="0" tIns="0" bIns="0">
            <a:spAutoFit/>
          </a:bodyPr>
          <a:lstStyle/>
          <a:p>
            <a:pPr algn="l">
              <a:lnSpc>
                <a:spcPct val="120000"/>
              </a:lnSpc>
              <a:spcBef>
                <a:spcPts val="0"/>
              </a:spcBef>
              <a:spcAft>
                <a:spcPts val="600"/>
              </a:spcAft>
            </a:pPr>
            <a:r>
              <a:rPr sz="1450" b="0" i="1">
                <a:solidFill>
                  <a:srgbClr val="635E56"/>
                </a:solidFill>
                <a:latin typeface="Georgia"/>
              </a:rPr>
              <a:t>Traditional identity players (Persona, Onfido, civic) are centralized PII stores — the very model Zelyo replaces.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9F5"/>
        </a:solidFill>
        <a:effectLst/>
      </p:bgPr>
    </p:bg>
    <p:spTree>
      <p:nvGrpSpPr>
        <p:cNvPr id="1" name=""/>
        <p:cNvGrpSpPr/>
        <p:nvPr/>
      </p:nvGrpSpPr>
      <p:grpSpPr/>
      <p:sp>
        <p:nvSpPr>
          <p:cNvPr id="2" name="Oval 1"/>
          <p:cNvSpPr/>
          <p:nvPr/>
        </p:nvSpPr>
        <p:spPr>
          <a:xfrm>
            <a:off x="758952" y="429768"/>
            <a:ext cx="457200" cy="457200"/>
          </a:xfrm>
          <a:prstGeom prst="ellipse">
            <a:avLst/>
          </a:prstGeom>
          <a:noFill/>
          <a:ln w="17780">
            <a:solidFill>
              <a:srgbClr val="05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877824"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87552" y="553212"/>
            <a:ext cx="0" cy="196596"/>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7552" y="585216"/>
            <a:ext cx="109728" cy="164592"/>
          </a:xfrm>
          <a:prstGeom prst="line">
            <a:avLst/>
          </a:prstGeom>
          <a:ln w="12700">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2678"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2406" y="528066"/>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2134" y="560070"/>
            <a:ext cx="50292" cy="50292"/>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4862" y="717118"/>
            <a:ext cx="65379" cy="65379"/>
          </a:xfrm>
          <a:prstGeom prst="ellipse">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7200"/>
            <a:ext cx="99669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120">
                <a:solidFill>
                  <a:srgbClr val="635E56"/>
                </a:solidFill>
                <a:latin typeface="Arial"/>
              </a:rPr>
              <a:t>THE ASK</a:t>
            </a:r>
          </a:p>
        </p:txBody>
      </p:sp>
      <p:sp>
        <p:nvSpPr>
          <p:cNvPr id="11" name="TextBox 10"/>
          <p:cNvSpPr txBox="1"/>
          <p:nvPr/>
        </p:nvSpPr>
        <p:spPr>
          <a:xfrm>
            <a:off x="822960" y="868680"/>
            <a:ext cx="10515600" cy="914400"/>
          </a:xfrm>
          <a:prstGeom prst="rect">
            <a:avLst/>
          </a:prstGeom>
          <a:noFill/>
        </p:spPr>
        <p:txBody>
          <a:bodyPr wrap="square" anchor="t" lIns="0" rIns="0" tIns="0" bIns="0">
            <a:spAutoFit/>
          </a:bodyPr>
          <a:lstStyle/>
          <a:p>
            <a:pPr algn="l">
              <a:lnSpc>
                <a:spcPct val="100000"/>
              </a:lnSpc>
              <a:spcBef>
                <a:spcPts val="0"/>
              </a:spcBef>
              <a:spcAft>
                <a:spcPts val="600"/>
              </a:spcAft>
            </a:pPr>
            <a:r>
              <a:rPr sz="3400" b="0" i="0">
                <a:solidFill>
                  <a:srgbClr val="051A17"/>
                </a:solidFill>
                <a:latin typeface="EB Garamond"/>
              </a:rPr>
              <a:t>Fund the wedge, capture the standard</a:t>
            </a:r>
          </a:p>
        </p:txBody>
      </p:sp>
      <p:sp>
        <p:nvSpPr>
          <p:cNvPr id="12" name="Rectangle 11"/>
          <p:cNvSpPr/>
          <p:nvPr/>
        </p:nvSpPr>
        <p:spPr>
          <a:xfrm>
            <a:off x="822960" y="6355080"/>
            <a:ext cx="10543032" cy="9525"/>
          </a:xfrm>
          <a:prstGeom prst="rect">
            <a:avLst/>
          </a:prstGeom>
          <a:solidFill>
            <a:srgbClr val="C2C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19088"/>
            <a:ext cx="5486400" cy="320040"/>
          </a:xfrm>
          <a:prstGeom prst="rect">
            <a:avLst/>
          </a:prstGeom>
          <a:noFill/>
        </p:spPr>
        <p:txBody>
          <a:bodyPr wrap="square" anchor="t" lIns="0" rIns="0" tIns="0" bIns="0">
            <a:spAutoFit/>
          </a:bodyPr>
          <a:lstStyle/>
          <a:p>
            <a:pPr algn="l">
              <a:lnSpc>
                <a:spcPct val="100000"/>
              </a:lnSpc>
              <a:spcBef>
                <a:spcPts val="0"/>
              </a:spcBef>
              <a:spcAft>
                <a:spcPts val="600"/>
              </a:spcAft>
            </a:pPr>
            <a:r>
              <a:rPr sz="900" b="1" i="0" spc="80">
                <a:solidFill>
                  <a:srgbClr val="635E56"/>
                </a:solidFill>
                <a:latin typeface="Arial"/>
              </a:rPr>
              <a:t>ZELYO</a:t>
            </a:r>
            <a:r>
              <a:rPr sz="900" b="0" i="0" spc="60">
                <a:solidFill>
                  <a:srgbClr val="635E56"/>
                </a:solidFill>
                <a:latin typeface="Arial"/>
              </a:rPr>
              <a:t>   ·   Investor &amp; Ecosystem Pitch · v3</a:t>
            </a:r>
          </a:p>
        </p:txBody>
      </p:sp>
      <p:sp>
        <p:nvSpPr>
          <p:cNvPr id="14" name="TextBox 13"/>
          <p:cNvSpPr txBox="1"/>
          <p:nvPr/>
        </p:nvSpPr>
        <p:spPr>
          <a:xfrm>
            <a:off x="10424160" y="6419088"/>
            <a:ext cx="941832" cy="320040"/>
          </a:xfrm>
          <a:prstGeom prst="rect">
            <a:avLst/>
          </a:prstGeom>
          <a:noFill/>
        </p:spPr>
        <p:txBody>
          <a:bodyPr wrap="square" anchor="t" lIns="0" rIns="0" tIns="0" bIns="0">
            <a:spAutoFit/>
          </a:bodyPr>
          <a:lstStyle/>
          <a:p>
            <a:pPr algn="r">
              <a:lnSpc>
                <a:spcPct val="100000"/>
              </a:lnSpc>
              <a:spcBef>
                <a:spcPts val="0"/>
              </a:spcBef>
              <a:spcAft>
                <a:spcPts val="600"/>
              </a:spcAft>
            </a:pPr>
            <a:r>
              <a:rPr sz="900" b="0" i="0" spc="60">
                <a:solidFill>
                  <a:srgbClr val="635E56"/>
                </a:solidFill>
                <a:latin typeface="Arial"/>
              </a:rPr>
              <a:t>13</a:t>
            </a:r>
          </a:p>
        </p:txBody>
      </p:sp>
      <p:sp>
        <p:nvSpPr>
          <p:cNvPr id="15" name="Rectangle 14"/>
          <p:cNvSpPr/>
          <p:nvPr/>
        </p:nvSpPr>
        <p:spPr>
          <a:xfrm>
            <a:off x="822960" y="2103120"/>
            <a:ext cx="5120640" cy="173736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2103120"/>
            <a:ext cx="27940" cy="1737360"/>
          </a:xfrm>
          <a:prstGeom prst="rect">
            <a:avLst/>
          </a:prstGeom>
          <a:solidFill>
            <a:srgbClr val="05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67712"/>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Raise / grants</a:t>
            </a:r>
          </a:p>
        </p:txBody>
      </p:sp>
      <p:sp>
        <p:nvSpPr>
          <p:cNvPr id="18" name="TextBox 17"/>
          <p:cNvSpPr txBox="1"/>
          <p:nvPr/>
        </p:nvSpPr>
        <p:spPr>
          <a:xfrm>
            <a:off x="1051560" y="2670048"/>
            <a:ext cx="4709160" cy="109728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Close SCF 7.0 Build Award (up to $150K XLM) + seed round to fund the PH beachhead &amp; core team.</a:t>
            </a:r>
          </a:p>
        </p:txBody>
      </p:sp>
      <p:sp>
        <p:nvSpPr>
          <p:cNvPr id="19" name="Rectangle 18"/>
          <p:cNvSpPr/>
          <p:nvPr/>
        </p:nvSpPr>
        <p:spPr>
          <a:xfrm>
            <a:off x="6126480" y="2103120"/>
            <a:ext cx="5120640" cy="173736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2103120"/>
            <a:ext cx="27940" cy="1737360"/>
          </a:xfrm>
          <a:prstGeom prst="rect">
            <a:avLst/>
          </a:prstGeom>
          <a:solidFill>
            <a:srgbClr val="1A2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2267712"/>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Next 2 quarters</a:t>
            </a:r>
          </a:p>
        </p:txBody>
      </p:sp>
      <p:sp>
        <p:nvSpPr>
          <p:cNvPr id="22" name="TextBox 21"/>
          <p:cNvSpPr txBox="1"/>
          <p:nvPr/>
        </p:nvSpPr>
        <p:spPr>
          <a:xfrm>
            <a:off x="6355080" y="2670048"/>
            <a:ext cx="4709160" cy="109728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Ship Path A on-chain verify, complete reward delivery, land 3–5 PH issuers + 1 anchor pilot.</a:t>
            </a:r>
          </a:p>
        </p:txBody>
      </p:sp>
      <p:sp>
        <p:nvSpPr>
          <p:cNvPr id="23" name="Rectangle 22"/>
          <p:cNvSpPr/>
          <p:nvPr/>
        </p:nvSpPr>
        <p:spPr>
          <a:xfrm>
            <a:off x="822960" y="4041648"/>
            <a:ext cx="5120640" cy="173736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4041648"/>
            <a:ext cx="27940" cy="1737360"/>
          </a:xfrm>
          <a:prstGeom prst="rect">
            <a:avLst/>
          </a:prstGeom>
          <a:solidFill>
            <a:srgbClr val="635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206240"/>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12-month goal</a:t>
            </a:r>
          </a:p>
        </p:txBody>
      </p:sp>
      <p:sp>
        <p:nvSpPr>
          <p:cNvPr id="26" name="TextBox 25"/>
          <p:cNvSpPr txBox="1"/>
          <p:nvPr/>
        </p:nvSpPr>
        <p:spPr>
          <a:xfrm>
            <a:off x="1051560" y="4608576"/>
            <a:ext cx="4709160" cy="109728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Reusable-KYC live with an anchor; APAC corridor #1; developer SDK in beta.</a:t>
            </a:r>
          </a:p>
        </p:txBody>
      </p:sp>
      <p:sp>
        <p:nvSpPr>
          <p:cNvPr id="27" name="Rectangle 26"/>
          <p:cNvSpPr/>
          <p:nvPr/>
        </p:nvSpPr>
        <p:spPr>
          <a:xfrm>
            <a:off x="6126480" y="4041648"/>
            <a:ext cx="5120640" cy="1737360"/>
          </a:xfrm>
          <a:prstGeom prst="rect">
            <a:avLst/>
          </a:prstGeom>
          <a:solidFill>
            <a:srgbClr val="FFFFFF"/>
          </a:solidFill>
          <a:ln w="9525">
            <a:solidFill>
              <a:srgbClr val="C2C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4041648"/>
            <a:ext cx="27940" cy="1737360"/>
          </a:xfrm>
          <a:prstGeom prst="rect">
            <a:avLst/>
          </a:prstGeom>
          <a:solidFill>
            <a:srgbClr val="2512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4206240"/>
            <a:ext cx="4709160" cy="457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spc="60">
                <a:solidFill>
                  <a:srgbClr val="051A17"/>
                </a:solidFill>
                <a:latin typeface="Arial"/>
              </a:rPr>
              <a:t>Use of funds</a:t>
            </a:r>
          </a:p>
        </p:txBody>
      </p:sp>
      <p:sp>
        <p:nvSpPr>
          <p:cNvPr id="30" name="TextBox 29"/>
          <p:cNvSpPr txBox="1"/>
          <p:nvPr/>
        </p:nvSpPr>
        <p:spPr>
          <a:xfrm>
            <a:off x="6355080" y="4608576"/>
            <a:ext cx="4709160" cy="1097280"/>
          </a:xfrm>
          <a:prstGeom prst="rect">
            <a:avLst/>
          </a:prstGeom>
          <a:noFill/>
        </p:spPr>
        <p:txBody>
          <a:bodyPr wrap="square" anchor="t" lIns="0" rIns="0" tIns="0" bIns="0">
            <a:spAutoFit/>
          </a:bodyPr>
          <a:lstStyle/>
          <a:p>
            <a:pPr algn="l">
              <a:lnSpc>
                <a:spcPct val="108000"/>
              </a:lnSpc>
              <a:spcBef>
                <a:spcPts val="0"/>
              </a:spcBef>
              <a:spcAft>
                <a:spcPts val="600"/>
              </a:spcAft>
            </a:pPr>
            <a:r>
              <a:rPr sz="1350" b="0" i="0">
                <a:solidFill>
                  <a:srgbClr val="051A17"/>
                </a:solidFill>
                <a:latin typeface="Georgia"/>
              </a:rPr>
              <a:t>Engineering (ZK + Soroban), anchor/issuer BD in PH/APAC, security audit, compliance.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1A17"/>
        </a:solidFill>
        <a:effectLst/>
      </p:bgPr>
    </p:bg>
    <p:spTree>
      <p:nvGrpSpPr>
        <p:cNvPr id="1" name=""/>
        <p:cNvGrpSpPr/>
        <p:nvPr/>
      </p:nvGrpSpPr>
      <p:grpSpPr/>
      <p:sp>
        <p:nvSpPr>
          <p:cNvPr id="2" name="Rectangle 1"/>
          <p:cNvSpPr/>
          <p:nvPr/>
        </p:nvSpPr>
        <p:spPr>
          <a:xfrm>
            <a:off x="502920" y="502920"/>
            <a:ext cx="11185855" cy="5852160"/>
          </a:xfrm>
          <a:prstGeom prst="rect">
            <a:avLst/>
          </a:prstGeom>
          <a:noFill/>
          <a:ln w="12700">
            <a:solidFill>
              <a:srgbClr val="1A2F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32450" y="754380"/>
            <a:ext cx="1325880" cy="1325880"/>
          </a:xfrm>
          <a:prstGeom prst="ellipse">
            <a:avLst/>
          </a:prstGeom>
          <a:gradFill rotWithShape="1">
            <a:gsLst>
              <a:gs pos="0">
                <a:srgbClr val="051A17"/>
              </a:gs>
              <a:gs pos="100000">
                <a:srgbClr val="1A2F2B"/>
              </a:gs>
            </a:gsLst>
            <a:lin scaled="0" ang="13500000"/>
          </a:gradFill>
          <a:ln w="31750">
            <a:solidFill>
              <a:srgbClr val="D0E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578297" y="900226"/>
            <a:ext cx="1034186" cy="1034186"/>
          </a:xfrm>
          <a:prstGeom prst="ellipse">
            <a:avLst/>
          </a:prstGeom>
          <a:noFill/>
          <a:ln w="12700">
            <a:solidFill>
              <a:srgbClr val="D0E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H="1" flipV="1">
            <a:off x="5777179" y="1205179"/>
            <a:ext cx="318211" cy="477317"/>
          </a:xfrm>
          <a:prstGeom prst="line">
            <a:avLst/>
          </a:prstGeom>
          <a:ln w="17462">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6095390" y="1112367"/>
            <a:ext cx="0" cy="570129"/>
          </a:xfrm>
          <a:prstGeom prst="line">
            <a:avLst/>
          </a:prstGeom>
          <a:ln w="17462">
            <a:solidFill>
              <a:srgbClr val="80979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095390" y="1205179"/>
            <a:ext cx="318211" cy="477317"/>
          </a:xfrm>
          <a:prstGeom prst="line">
            <a:avLst/>
          </a:prstGeom>
          <a:ln w="17462">
            <a:solidFill>
              <a:srgbClr val="809792"/>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704255" y="1132255"/>
            <a:ext cx="145846" cy="145846"/>
          </a:xfrm>
          <a:prstGeom prst="ellipse">
            <a:avLst/>
          </a:prstGeom>
          <a:solidFill>
            <a:srgbClr val="D0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022467" y="1039444"/>
            <a:ext cx="145846" cy="145846"/>
          </a:xfrm>
          <a:prstGeom prst="ellipse">
            <a:avLst/>
          </a:prstGeom>
          <a:solidFill>
            <a:srgbClr val="D0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340678" y="1132255"/>
            <a:ext cx="145846" cy="145846"/>
          </a:xfrm>
          <a:prstGeom prst="ellipse">
            <a:avLst/>
          </a:prstGeom>
          <a:solidFill>
            <a:srgbClr val="D0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00589" y="1587695"/>
            <a:ext cx="189600" cy="189600"/>
          </a:xfrm>
          <a:prstGeom prst="ellipse">
            <a:avLst/>
          </a:prstGeom>
          <a:solidFill>
            <a:srgbClr val="D0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331720"/>
            <a:ext cx="10424160" cy="1097280"/>
          </a:xfrm>
          <a:prstGeom prst="rect">
            <a:avLst/>
          </a:prstGeom>
          <a:noFill/>
        </p:spPr>
        <p:txBody>
          <a:bodyPr wrap="square" anchor="t" lIns="0" rIns="0" tIns="0" bIns="0">
            <a:spAutoFit/>
          </a:bodyPr>
          <a:lstStyle/>
          <a:p>
            <a:pPr algn="l">
              <a:lnSpc>
                <a:spcPct val="102000"/>
              </a:lnSpc>
              <a:spcBef>
                <a:spcPts val="0"/>
              </a:spcBef>
              <a:spcAft>
                <a:spcPts val="600"/>
              </a:spcAft>
            </a:pPr>
            <a:r>
              <a:rPr sz="6000" b="0" i="0">
                <a:solidFill>
                  <a:srgbClr val="FBF9F5"/>
                </a:solidFill>
                <a:latin typeface="EB Garamond"/>
              </a:rPr>
              <a:t>Prove one fact.</a:t>
            </a:r>
          </a:p>
          <a:p>
            <a:pPr algn="l">
              <a:lnSpc>
                <a:spcPct val="102000"/>
              </a:lnSpc>
              <a:spcBef>
                <a:spcPts val="0"/>
              </a:spcBef>
              <a:spcAft>
                <a:spcPts val="600"/>
              </a:spcAft>
            </a:pPr>
            <a:r>
              <a:rPr sz="6000" b="0" i="1">
                <a:solidFill>
                  <a:srgbClr val="D0E8E1"/>
                </a:solidFill>
                <a:latin typeface="EB Garamond"/>
              </a:rPr>
              <a:t>Reveal nothing else.</a:t>
            </a:r>
          </a:p>
        </p:txBody>
      </p:sp>
      <p:sp>
        <p:nvSpPr>
          <p:cNvPr id="13" name="TextBox 12"/>
          <p:cNvSpPr txBox="1"/>
          <p:nvPr/>
        </p:nvSpPr>
        <p:spPr>
          <a:xfrm>
            <a:off x="914400" y="4114800"/>
            <a:ext cx="10058400" cy="640080"/>
          </a:xfrm>
          <a:prstGeom prst="rect">
            <a:avLst/>
          </a:prstGeom>
          <a:noFill/>
        </p:spPr>
        <p:txBody>
          <a:bodyPr wrap="square" anchor="t" lIns="0" rIns="0" tIns="0" bIns="0">
            <a:spAutoFit/>
          </a:bodyPr>
          <a:lstStyle/>
          <a:p>
            <a:pPr algn="l">
              <a:lnSpc>
                <a:spcPct val="120000"/>
              </a:lnSpc>
              <a:spcBef>
                <a:spcPts val="0"/>
              </a:spcBef>
              <a:spcAft>
                <a:spcPts val="600"/>
              </a:spcAft>
            </a:pPr>
            <a:r>
              <a:rPr sz="1700" b="0" i="0">
                <a:solidFill>
                  <a:srgbClr val="809792"/>
                </a:solidFill>
                <a:latin typeface="Georgia"/>
              </a:rPr>
              <a:t>The privacy-preserving identity layer for Stellar — starting in the Philippines, built for the world.</a:t>
            </a:r>
          </a:p>
        </p:txBody>
      </p:sp>
      <p:sp>
        <p:nvSpPr>
          <p:cNvPr id="14" name="Rectangle 13"/>
          <p:cNvSpPr/>
          <p:nvPr/>
        </p:nvSpPr>
        <p:spPr>
          <a:xfrm>
            <a:off x="914400" y="5029200"/>
            <a:ext cx="2194560" cy="19050"/>
          </a:xfrm>
          <a:prstGeom prst="rect">
            <a:avLst/>
          </a:prstGeom>
          <a:solidFill>
            <a:srgbClr val="8097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212080"/>
            <a:ext cx="10058400" cy="457200"/>
          </a:xfrm>
          <a:prstGeom prst="rect">
            <a:avLst/>
          </a:prstGeom>
          <a:noFill/>
        </p:spPr>
        <p:txBody>
          <a:bodyPr wrap="square" anchor="t" lIns="0" rIns="0" tIns="0" bIns="0">
            <a:spAutoFit/>
          </a:bodyPr>
          <a:lstStyle/>
          <a:p>
            <a:pPr algn="l">
              <a:lnSpc>
                <a:spcPct val="100000"/>
              </a:lnSpc>
              <a:spcBef>
                <a:spcPts val="0"/>
              </a:spcBef>
              <a:spcAft>
                <a:spcPts val="600"/>
              </a:spcAft>
            </a:pPr>
            <a:r>
              <a:rPr sz="1100" b="0" i="0" spc="60">
                <a:solidFill>
                  <a:srgbClr val="809792"/>
                </a:solidFill>
                <a:latin typeface="Arial"/>
              </a:rPr>
              <a:t>[ contact · demo · deck v3 ]   ·   github.com/webnxt-2030/zelyo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