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theme" Target="theme/theme1.xml"/><Relationship Id="rId11" Type="http://schemas.openxmlformats.org/officeDocument/2006/relationships/presProps" Target="presProp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>
          <a:solidFill>
            <a:schemeClr val="tx1"/>
          </a:solidFill>
        </a:defRPr>
      </a:lvl1pPr>
    </p:titleStyle>
    <p:bodyStyle>
      <a:lvl1pPr>
        <a:defRPr sz="2400">
          <a:solidFill>
            <a:schemeClr val="tx1"/>
          </a:solidFill>
        </a:defRPr>
      </a:lvl1pPr>
    </p:bodyStyle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magePlaceholder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9050">
            <a:solidFill>
              <a:srgbClr val="999999"/>
            </a:solidFill>
            <a:prstDash val="dash"/>
          </a:ln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n-US" sz="2000" dirty="0"/>
              <a:t>[FULL-SLIDE IMAGE — see image prompt #1]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2050000"/>
            <a:ext cx="10820400" cy="12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n-US" sz="6000" b="1" dirty="0"/>
              <a:t>Zelyo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85800" y="3350000"/>
            <a:ext cx="10820400" cy="7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n-US" sz="2600" dirty="0"/>
              <a:t>Seal a credential. Prove one fact. Reveal nothing else.</a:t>
            </a:r>
          </a:p>
        </p:txBody>
      </p:sp>
      <p:sp>
        <p:nvSpPr>
          <p:cNvPr id="5" name="Lead"/>
          <p:cNvSpPr txBox="1"/>
          <p:nvPr/>
        </p:nvSpPr>
        <p:spPr>
          <a:xfrm>
            <a:off x="685800" y="4150000"/>
            <a:ext cx="10820400" cy="9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n-US" sz="1800" i="1" dirty="0"/>
              <a:t>Prove you're qualified without handing over your whole identity.</a:t>
            </a:r>
          </a:p>
          <a:p>
            <a:pPr algn="ctr">
              <a:buNone/>
            </a:pPr>
            <a:r>
              <a:rPr lang="en-US" sz="1800" b="1" dirty="0"/>
              <a:t>Project Lead: [NAME]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lemImagePlaceholder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9050">
            <a:solidFill>
              <a:srgbClr val="999999"/>
            </a:solidFill>
            <a:prstDash val="dash"/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2000" dirty="0"/>
              <a:t>[FULL-SLIDE IMAGE — see image prompt #2]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500000"/>
            <a:ext cx="10820400" cy="10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n-US" sz="3200" b="1" dirty="0"/>
              <a:t>Proving you're qualified costs your privacy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685800" y="5600000"/>
            <a:ext cx="10820400" cy="9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n-US" sz="2000" i="1" dirty="0"/>
              <a:t>Today: reveal everything.   With Zelyo: reveal one fact.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80000"/>
            <a:ext cx="10820400" cy="105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US" sz="3400" b="1" dirty="0"/>
              <a:t>Prove one fact — reveal nothing else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85800" y="1650000"/>
            <a:ext cx="10820400" cy="47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indent="-274638" marL="274638">
              <a:buChar char="•"/>
            </a:pPr>
            <a:r>
              <a:rPr lang="en-US" sz="2200" dirty="0"/>
              <a:t>Your secret never leaves your device</a:t>
            </a:r>
          </a:p>
          <a:p>
            <a:pPr indent="-274638" marL="274638">
              <a:buChar char="•"/>
            </a:pPr>
            <a:r>
              <a:rPr lang="en-US" sz="2200" dirty="0"/>
              <a:t>Public registry refuses reuse — fraud-proof</a:t>
            </a:r>
          </a:p>
          <a:p>
            <a:pPr indent="-274638" marL="274638">
              <a:buChar char="•"/>
            </a:pPr>
            <a:r>
              <a:rPr lang="en-US" sz="2200" dirty="0"/>
              <a:t>Reveal one attribute, unlock the reward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80000"/>
            <a:ext cx="10820400" cy="105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US" sz="3400" b="1" dirty="0"/>
              <a:t>Demo: seal → prove → reveal → claim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85800" y="1650000"/>
            <a:ext cx="10820400" cy="47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indent="-274638" marL="274638">
              <a:buChar char="•"/>
            </a:pPr>
            <a:r>
              <a:rPr lang="en-US" sz="2200" dirty="0"/>
              <a:t>Issuer seals a credential (fingerprint only)</a:t>
            </a:r>
          </a:p>
          <a:p>
            <a:pPr indent="-274638" marL="274638">
              <a:buChar char="•"/>
            </a:pPr>
            <a:r>
              <a:rPr lang="en-US" sz="2200" dirty="0"/>
              <a:t>Holder creates their key in-browser</a:t>
            </a:r>
          </a:p>
          <a:p>
            <a:pPr indent="-274638" marL="274638">
              <a:buChar char="•"/>
            </a:pPr>
            <a:r>
              <a:rPr lang="en-US" sz="2200" dirty="0"/>
              <a:t>Prove one fact, bind the wallet</a:t>
            </a:r>
          </a:p>
          <a:p>
            <a:pPr indent="-274638" marL="274638">
              <a:buChar char="•"/>
            </a:pPr>
            <a:r>
              <a:rPr lang="en-US" sz="2200" dirty="0"/>
              <a:t>Reveal: anonymous stamp — reuse rejected</a:t>
            </a:r>
          </a:p>
          <a:p>
            <a:pPr indent="-274638" marL="274638">
              <a:buChar char="•"/>
            </a:pPr>
            <a:r>
              <a:rPr lang="en-US" sz="2200" dirty="0"/>
              <a:t>Claim: real reward hits the wallet</a:t>
            </a:r>
          </a:p>
          <a:p>
            <a:pPr>
              <a:buNone/>
            </a:pPr>
            <a:r>
              <a:rPr lang="en-US" sz="1600" i="1" dirty="0"/>
              <a:t>[Demo video — ~90s screen recording of the full flow]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80000"/>
            <a:ext cx="10820400" cy="105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US" sz="3400" b="1" dirty="0"/>
              <a:t>Like a notary that never reads your document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85800" y="1650000"/>
            <a:ext cx="10820400" cy="47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indent="-274638" marL="274638">
              <a:buChar char="•"/>
            </a:pPr>
            <a:r>
              <a:rPr lang="en-US" sz="2200" dirty="0"/>
              <a:t>Issuer seals; publishes only a fingerprint</a:t>
            </a:r>
          </a:p>
          <a:p>
            <a:pPr indent="-274638" marL="274638">
              <a:buChar char="•"/>
            </a:pPr>
            <a:r>
              <a:rPr lang="en-US" sz="2200" dirty="0"/>
              <a:t>Holder holds the only key</a:t>
            </a:r>
          </a:p>
          <a:p>
            <a:pPr indent="-274638" marL="274638">
              <a:buChar char="•"/>
            </a:pPr>
            <a:r>
              <a:rPr lang="en-US" sz="2200" dirty="0"/>
              <a:t>Registry: no reuse, nothing personal stored</a:t>
            </a:r>
          </a:p>
          <a:p>
            <a:pPr indent="-274638" marL="274638">
              <a:buChar char="•"/>
            </a:pPr>
            <a:r>
              <a:rPr lang="en-US" sz="2200" dirty="0"/>
              <a:t>Verifier posts gates and pays the reward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80000"/>
            <a:ext cx="10820400" cy="105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US" sz="3400" b="1" dirty="0"/>
              <a:t>Who needs this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85800" y="1650000"/>
            <a:ext cx="10820400" cy="47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indent="-274638" marL="274638">
              <a:buChar char="•"/>
            </a:pPr>
            <a:r>
              <a:rPr lang="en-US" sz="2200" dirty="0"/>
              <a:t>Issuers: fraud-proof credentials, no honeypot</a:t>
            </a:r>
          </a:p>
          <a:p>
            <a:pPr indent="-274638" marL="274638">
              <a:buChar char="•"/>
            </a:pPr>
            <a:r>
              <a:rPr lang="en-US" sz="2200" dirty="0"/>
              <a:t>Holders: self-sovereign, reveal only what's needed</a:t>
            </a:r>
          </a:p>
          <a:p>
            <a:pPr indent="-274638" marL="274638">
              <a:buChar char="•"/>
            </a:pPr>
            <a:r>
              <a:rPr lang="en-US" sz="2200" dirty="0"/>
              <a:t>Verifiers: no personal-data liability</a:t>
            </a:r>
          </a:p>
          <a:p>
            <a:pPr indent="-274638" marL="274638">
              <a:buChar char="•"/>
            </a:pPr>
            <a:r>
              <a:rPr lang="en-US" sz="2200" dirty="0"/>
              <a:t>Builders: end-to-end scaffold to extend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80000"/>
            <a:ext cx="10820400" cy="105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US" sz="3400" b="1" dirty="0"/>
              <a:t>What's next — honest gaps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85800" y="1650000"/>
            <a:ext cx="10820400" cy="47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indent="-274638" marL="274638">
              <a:buChar char="•"/>
            </a:pPr>
            <a:r>
              <a:rPr lang="en-US" sz="2200" dirty="0"/>
              <a:t>Prove any one attribute (today: track only)</a:t>
            </a:r>
          </a:p>
          <a:p>
            <a:pPr indent="-274638" marL="274638">
              <a:buChar char="•"/>
            </a:pPr>
            <a:r>
              <a:rPr lang="en-US" sz="2200" dirty="0"/>
              <a:t>Make the set-aside reward spendable in-app</a:t>
            </a:r>
          </a:p>
          <a:p>
            <a:pPr indent="-274638" marL="274638">
              <a:buChar char="•"/>
            </a:pPr>
            <a:r>
              <a:rPr lang="en-US" sz="2200" dirty="0"/>
              <a:t>Native-asset reward form fix</a:t>
            </a:r>
          </a:p>
          <a:p>
            <a:pPr indent="-274638" marL="274638">
              <a:buChar char="•"/>
            </a:pPr>
            <a:r>
              <a:rPr lang="en-US" sz="2200" dirty="0"/>
              <a:t>Roadmap: dates, trusted issuers, gate marketplace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80000"/>
            <a:ext cx="10820400" cy="105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US" sz="3400" b="1" dirty="0"/>
              <a:t>Team Zelyo — thank you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85800" y="1650000"/>
            <a:ext cx="10820400" cy="47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indent="-274638" marL="274638">
              <a:buChar char="•"/>
            </a:pPr>
            <a:r>
              <a:rPr lang="en-US" sz="2200" dirty="0"/>
              <a:t>[Member 1 — role — GitHub/email]</a:t>
            </a:r>
          </a:p>
          <a:p>
            <a:pPr indent="-274638" marL="274638">
              <a:buChar char="•"/>
            </a:pPr>
            <a:r>
              <a:rPr lang="en-US" sz="2200" dirty="0"/>
              <a:t>[Member 2 — role — GitHub/email]</a:t>
            </a:r>
          </a:p>
          <a:p>
            <a:pPr indent="-274638" marL="274638">
              <a:buChar char="•"/>
            </a:pPr>
            <a:r>
              <a:rPr lang="en-US" sz="2200" dirty="0"/>
              <a:t>[Member 3 — role — GitHub/email]</a:t>
            </a:r>
          </a:p>
          <a:p>
            <a:pPr indent="-274638" marL="274638">
              <a:buChar char="•"/>
            </a:pPr>
            <a:r>
              <a:rPr lang="en-US" sz="2200" dirty="0"/>
              <a:t>Repo / demo / docs: [links placeholder]</a:t>
            </a:r>
          </a:p>
          <a:p>
            <a:pPr>
              <a:buNone/>
            </a:pPr>
            <a:r>
              <a:rPr lang="en-US" sz="1600" i="1" dirty="0"/>
              <a:t>Thanks to the open-source ZK &amp; privacy-infrastructure community.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